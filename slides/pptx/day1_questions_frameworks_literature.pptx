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058038c-ac5f-8e7d-33e0-1037c9535e19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Questions and hypotheses" id="{8e126257-6dd1-bad5-fd66-0e58a718373d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Design and frameworks" id="{e38cde80-d5b0-2be6-2ca6-f2d477989a53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Searching and organising with Zotero" id="{c90349d0-dcc5-c10a-f004-a91c2e9492f8}">
          <p14:sldIdLst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Source-grounded synthesis with NotebookLM" id="{7c6beb6b-50aa-9097-fb79-983ac2c5e928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Introductions: name, role, one research question you have wondered about in clinic. Keep it to 30 seconds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H_TITLE">
    <p:bg>
      <p:bgPr>
        <a:solidFill>
          <a:srgbClr val="002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NexusHealth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H_SECTION">
    <p:bg>
      <p:bgPr>
        <a:solidFill>
          <a:srgbClr val="002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731520" y="641908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NexusHealth · Introduction to AI-Assisted Research Methods and Data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2B5C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H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NexusHealth · Introduction to AI-Assisted Research Methods and Data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2B5C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-title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Day 1: From clinical question to evidence map</a:t>
            </a:r>
            <a:endParaRPr lang="en-US" sz="4000" dirty="0"/>
          </a:p>
        </p:txBody>
      </p:sp>
      <p:sp>
        <p:nvSpPr>
          <p:cNvPr id="3" name="deck-subtitle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accent2"/>
                </a:solidFill>
              </a:rPr>
              <a:t>Research questions, study design, frameworks and literature in the AI age</a:t>
            </a:r>
            <a:endParaRPr lang="en-US" sz="2200" dirty="0"/>
          </a:p>
        </p:txBody>
      </p:sp>
      <p:sp>
        <p:nvSpPr>
          <p:cNvPr id="4" name="deck-byline"/>
          <p:cNvSpPr txBox="1"/>
          <p:nvPr/>
        </p:nvSpPr>
        <p:spPr>
          <a:xfrm>
            <a:off x="731520" y="52120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Introduction to AI-Assisted Research Methods and Data Analysis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Adamu Onu · NexusHealth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Welcome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5874106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Over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days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take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clinical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observation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way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auditable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mini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research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report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2386584"/>
            <a:ext cx="5874106" cy="1874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coding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experience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needed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continuous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teaching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case,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own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assistant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check,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never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author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trust</a:t>
            </a:r>
            <a:endParaRPr lang="en-US" sz="2200" dirty="0"/>
          </a:p>
        </p:txBody>
      </p:sp>
      <p:sp>
        <p:nvSpPr>
          <p:cNvPr id="5" name="box-light-2"/>
          <p:cNvSpPr/>
          <p:nvPr/>
        </p:nvSpPr>
        <p:spPr>
          <a:xfrm>
            <a:off x="6834226" y="1234440"/>
            <a:ext cx="4806086" cy="3596640"/>
          </a:xfrm>
          <a:prstGeom prst="roundRect">
            <a:avLst>
              <a:gd name="adj" fmla="val 2034"/>
            </a:avLst>
          </a:prstGeom>
          <a:solidFill>
            <a:srgbClr val="DEE6EF"/>
          </a:solidFill>
          <a:ln w="12700">
            <a:solidFill>
              <a:srgbClr val="DEE6EF"/>
            </a:solidFill>
            <a:prstDash val="solid"/>
          </a:ln>
        </p:spPr>
      </p:sp>
      <p:sp>
        <p:nvSpPr>
          <p:cNvPr id="6" name="text-3"/>
          <p:cNvSpPr txBox="1"/>
          <p:nvPr/>
        </p:nvSpPr>
        <p:spPr>
          <a:xfrm>
            <a:off x="6998818" y="1399032"/>
            <a:ext cx="4476902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Each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day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builds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on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the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last</a:t>
            </a:r>
            <a:endParaRPr lang="en-US" sz="2200" dirty="0"/>
          </a:p>
        </p:txBody>
      </p:sp>
      <p:sp>
        <p:nvSpPr>
          <p:cNvPr id="7" name="text-4"/>
          <p:cNvSpPr txBox="1"/>
          <p:nvPr/>
        </p:nvSpPr>
        <p:spPr>
          <a:xfrm>
            <a:off x="6998818" y="1880616"/>
            <a:ext cx="4476902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Day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1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framework,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literature</a:t>
            </a:r>
            <a:endParaRPr lang="en-US" sz="2200" dirty="0"/>
          </a:p>
        </p:txBody>
      </p:sp>
      <p:sp>
        <p:nvSpPr>
          <p:cNvPr id="8" name="text-5"/>
          <p:cNvSpPr txBox="1"/>
          <p:nvPr/>
        </p:nvSpPr>
        <p:spPr>
          <a:xfrm>
            <a:off x="6998818" y="2697480"/>
            <a:ext cx="4476902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Day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2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cleaning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description</a:t>
            </a:r>
            <a:endParaRPr lang="en-US" sz="2200" dirty="0"/>
          </a:p>
        </p:txBody>
      </p:sp>
      <p:sp>
        <p:nvSpPr>
          <p:cNvPr id="9" name="text-6"/>
          <p:cNvSpPr txBox="1"/>
          <p:nvPr/>
        </p:nvSpPr>
        <p:spPr>
          <a:xfrm>
            <a:off x="6998818" y="3514344"/>
            <a:ext cx="4476902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Day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3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Testing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regression</a:t>
            </a:r>
            <a:endParaRPr lang="en-US" sz="2200" dirty="0"/>
          </a:p>
        </p:txBody>
      </p:sp>
      <p:sp>
        <p:nvSpPr>
          <p:cNvPr id="10" name="text-7"/>
          <p:cNvSpPr txBox="1"/>
          <p:nvPr/>
        </p:nvSpPr>
        <p:spPr>
          <a:xfrm>
            <a:off x="6998818" y="3995928"/>
            <a:ext cx="4476902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Day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4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Reporting,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discussion,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capstone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The daily rhythm</a:t>
            </a:r>
            <a:endParaRPr lang="en-US" sz="3000" dirty="0"/>
          </a:p>
        </p:txBody>
      </p:sp>
      <p:graphicFrame>
        <p:nvGraphicFramePr>
          <p:cNvPr id="4" name="table-0"/>
          <p:cNvGraphicFramePr>
            <a:graphicFrameLocks noGrp="1"/>
          </p:cNvGraphicFramePr>
          <p:nvPr/>
        </p:nvGraphicFramePr>
        <p:xfrm>
          <a:off x="548640" y="1234440"/>
          <a:ext cx="7764171" cy="3121152"/>
        </p:xfrm>
        <a:graphic>
          <a:graphicData uri="http://schemas.openxmlformats.org/drawingml/2006/table">
            <a:tbl>
              <a:tblPr/>
              <a:tblGrid>
                <a:gridCol w="4940836"/>
                <a:gridCol w="2823335"/>
              </a:tblGrid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Time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Block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08:30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10:00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Block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10:00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10:15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Break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10:15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11:45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Block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11:45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12:45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Lunch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12:45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14:15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Block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14:15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14:30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Break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14:30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16:00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Block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1"/>
          <p:cNvSpPr txBox="1"/>
          <p:nvPr/>
        </p:nvSpPr>
        <p:spPr>
          <a:xfrm>
            <a:off x="548640" y="4501896"/>
            <a:ext cx="11091672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Each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block: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short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demonstration,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guided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practice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pairs,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debrief.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Ground rules</a:t>
            </a:r>
            <a:endParaRPr lang="en-US" sz="3000" dirty="0"/>
          </a:p>
        </p:txBody>
      </p:sp>
      <p:sp>
        <p:nvSpPr>
          <p:cNvPr id="3" name="box-warn-0"/>
          <p:cNvSpPr/>
          <p:nvPr/>
        </p:nvSpPr>
        <p:spPr>
          <a:xfrm>
            <a:off x="548640" y="1234440"/>
            <a:ext cx="11091672" cy="999744"/>
          </a:xfrm>
          <a:prstGeom prst="roundRect">
            <a:avLst>
              <a:gd name="adj" fmla="val 7317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4" name="text-1"/>
          <p:cNvSpPr txBox="1"/>
          <p:nvPr/>
        </p:nvSpPr>
        <p:spPr>
          <a:xfrm>
            <a:off x="713232" y="1399032"/>
            <a:ext cx="10762488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All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course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data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are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synthetic.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patients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exist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associations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simulated.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Never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cite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clinical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evidence.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2380488"/>
            <a:ext cx="11091672" cy="1950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Never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paste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identifiable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patient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confidential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manuscripts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restricted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full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text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public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tool.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Follow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institution’s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AI,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protection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copyright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policies.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AI-supplied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citation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task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to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verify</a:t>
            </a:r>
            <a:r>
              <a:rPr lang="en-US" sz="2200" dirty="0">
                <a:solidFill>
                  <a:schemeClr val="tx1"/>
                </a:solidFill>
              </a:rPr>
              <a:t>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evidence.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responsible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every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source,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decision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number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report.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How we use AI in this course</a:t>
            </a:r>
            <a:endParaRPr lang="en-US" sz="3000" dirty="0"/>
          </a:p>
        </p:txBody>
      </p:sp>
      <p:graphicFrame>
        <p:nvGraphicFramePr>
          <p:cNvPr id="6" name="table-0"/>
          <p:cNvGraphicFramePr>
            <a:graphicFrameLocks noGrp="1"/>
          </p:cNvGraphicFramePr>
          <p:nvPr/>
        </p:nvGraphicFramePr>
        <p:xfrm>
          <a:off x="548640" y="1234440"/>
          <a:ext cx="8642096" cy="2340864"/>
        </p:xfrm>
        <a:graphic>
          <a:graphicData uri="http://schemas.openxmlformats.org/drawingml/2006/table">
            <a:tbl>
              <a:tblPr/>
              <a:tblGrid>
                <a:gridCol w="3752489"/>
                <a:gridCol w="4889607"/>
              </a:tblGrid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AI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can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help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You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must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still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Suggest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search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terms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synonyms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Choose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final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search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record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Summarise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sources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you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supplied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Check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every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claim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against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exact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passage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Explain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draft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code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Run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it,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read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check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Critique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your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wording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Decide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what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you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actually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found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Spot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gaps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plan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Own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design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conclusions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3721608"/>
            <a:ext cx="11091672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Every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meaningful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goes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AI-use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log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Our teaching case</a:t>
            </a:r>
            <a:endParaRPr lang="en-US" sz="3000" dirty="0"/>
          </a:p>
        </p:txBody>
      </p:sp>
      <p:sp>
        <p:nvSpPr>
          <p:cNvPr id="3" name="box-quote-0"/>
          <p:cNvSpPr/>
          <p:nvPr/>
        </p:nvSpPr>
        <p:spPr>
          <a:xfrm>
            <a:off x="548640" y="1234440"/>
            <a:ext cx="11091672" cy="1335024"/>
          </a:xfrm>
          <a:prstGeom prst="roundRect">
            <a:avLst>
              <a:gd name="adj" fmla="val 5479"/>
            </a:avLst>
          </a:prstGeom>
          <a:solidFill>
            <a:srgbClr val="DEE6EF"/>
          </a:solidFill>
          <a:ln w="12700">
            <a:solidFill>
              <a:srgbClr val="DEE6EF"/>
            </a:solidFill>
            <a:prstDash val="solid"/>
          </a:ln>
        </p:spPr>
      </p:sp>
      <p:sp>
        <p:nvSpPr>
          <p:cNvPr id="4" name="text-1"/>
          <p:cNvSpPr txBox="1"/>
          <p:nvPr/>
        </p:nvSpPr>
        <p:spPr>
          <a:xfrm>
            <a:off x="713232" y="1399032"/>
            <a:ext cx="10762488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Among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adults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attending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primary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care,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higher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medication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adherence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associated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lower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systolic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blood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pressure</a:t>
            </a:r>
            <a:r>
              <a:rPr lang="en-US" sz="2200" dirty="0">
                <a:solidFill>
                  <a:schemeClr val="tx1"/>
                </a:solidFill>
              </a:rPr>
              <a:t>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lower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odds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uncontrolled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blood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pressure</a:t>
            </a:r>
            <a:r>
              <a:rPr lang="en-US" sz="2200" dirty="0">
                <a:solidFill>
                  <a:schemeClr val="tx1"/>
                </a:solidFill>
              </a:rPr>
              <a:t>?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2715768"/>
            <a:ext cx="11091672" cy="1539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640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synthetic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patients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from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clinics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Adherence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score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0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100%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Uncontrolled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defined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for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this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course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SBP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≥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140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DBP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≥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90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mmHg.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Block 1: Questions and hypotheses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2B5C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From observation to question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5340096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A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clinic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observation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5340096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i="1" dirty="0">
                <a:solidFill>
                  <a:schemeClr val="tx1"/>
                </a:solidFill>
              </a:rPr>
              <a:t>“</a:t>
            </a:r>
            <a:r>
              <a:rPr lang="en-US" sz="2200" i="1" dirty="0">
                <a:solidFill>
                  <a:schemeClr val="tx1"/>
                </a:solidFill>
              </a:rPr>
              <a:t>My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hypertensive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patients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who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say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they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miss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doses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seem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to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have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worse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readings.</a:t>
            </a:r>
            <a:r>
              <a:rPr lang="en-US" sz="2200" i="1" dirty="0">
                <a:solidFill>
                  <a:schemeClr val="tx1"/>
                </a:solidFill>
              </a:rPr>
              <a:t>”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2868168"/>
            <a:ext cx="5340096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This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hunch.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yet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answerable.</a:t>
            </a:r>
            <a:endParaRPr lang="en-US" sz="2200" dirty="0"/>
          </a:p>
        </p:txBody>
      </p:sp>
      <p:sp>
        <p:nvSpPr>
          <p:cNvPr id="6" name="text-3"/>
          <p:cNvSpPr txBox="1"/>
          <p:nvPr/>
        </p:nvSpPr>
        <p:spPr>
          <a:xfrm>
            <a:off x="6300216" y="1234440"/>
            <a:ext cx="5340096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Questions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to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sharpen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it</a:t>
            </a:r>
            <a:endParaRPr lang="en-US" sz="2200" dirty="0"/>
          </a:p>
        </p:txBody>
      </p:sp>
      <p:sp>
        <p:nvSpPr>
          <p:cNvPr id="7" name="text-4"/>
          <p:cNvSpPr txBox="1"/>
          <p:nvPr/>
        </p:nvSpPr>
        <p:spPr>
          <a:xfrm>
            <a:off x="6300216" y="1716024"/>
            <a:ext cx="5340096" cy="1950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Which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patients?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Missing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doses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compared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what?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Which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reading,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measured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how?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aim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describe,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compare,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predict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explain?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PICO and PECO</a:t>
            </a:r>
            <a:endParaRPr lang="en-US" sz="3000" dirty="0"/>
          </a:p>
        </p:txBody>
      </p:sp>
      <p:graphicFrame>
        <p:nvGraphicFramePr>
          <p:cNvPr id="10" name="table-0"/>
          <p:cNvGraphicFramePr>
            <a:graphicFrameLocks noGrp="1"/>
          </p:cNvGraphicFramePr>
          <p:nvPr/>
        </p:nvGraphicFramePr>
        <p:xfrm>
          <a:off x="548640" y="1234440"/>
          <a:ext cx="10930128" cy="2194560"/>
        </p:xfrm>
        <a:graphic>
          <a:graphicData uri="http://schemas.openxmlformats.org/drawingml/2006/table">
            <a:tbl>
              <a:tblPr/>
              <a:tblGrid>
                <a:gridCol w="940226"/>
                <a:gridCol w="3173263"/>
                <a:gridCol w="2703150"/>
                <a:gridCol w="4113489"/>
              </a:tblGrid>
              <a:tr h="633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Intervention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studies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(PICO)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Exposure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studies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(PECO)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Teaching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case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Population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Population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Adults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attending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primary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care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Intervention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Exposure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Medication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adherence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score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Comparison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Comparator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Lower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adherence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(per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points)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Outcome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Outcome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SBP;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course-defined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uncontrolled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BP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3575304"/>
            <a:ext cx="11091672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PECO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when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observe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exposure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rather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assign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from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routine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clinical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PECO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Is it a good question? FINER</a:t>
            </a:r>
            <a:endParaRPr lang="en-US" sz="3000" dirty="0"/>
          </a:p>
        </p:txBody>
      </p:sp>
      <p:graphicFrame>
        <p:nvGraphicFramePr>
          <p:cNvPr id="11" name="table-0"/>
          <p:cNvGraphicFramePr>
            <a:graphicFrameLocks noGrp="1"/>
          </p:cNvGraphicFramePr>
          <p:nvPr/>
        </p:nvGraphicFramePr>
        <p:xfrm>
          <a:off x="548640" y="1234440"/>
          <a:ext cx="8978393" cy="2340864"/>
        </p:xfrm>
        <a:graphic>
          <a:graphicData uri="http://schemas.openxmlformats.org/drawingml/2006/table">
            <a:tbl>
              <a:tblPr/>
              <a:tblGrid>
                <a:gridCol w="1361034"/>
                <a:gridCol w="4153764"/>
                <a:gridCol w="3463595"/>
              </a:tblGrid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Letter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Ask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yourself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Teaching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case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easible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Data,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time,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skills,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sample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size?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Yes,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existing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records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nteresting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anyone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care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answer?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Adherence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modifiable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ovel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something?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Check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literature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thical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Risks,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consent,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governance?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Synthetic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data,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risk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elevant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Will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change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practice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research?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Could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inform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adherence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support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3721608"/>
            <a:ext cx="11091672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Revise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least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after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FINER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check.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Hypotheses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hypothesis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restates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claim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contradict.</a:t>
            </a:r>
            <a:endParaRPr lang="en-US" sz="2200" dirty="0"/>
          </a:p>
        </p:txBody>
      </p:sp>
      <p:sp>
        <p:nvSpPr>
          <p:cNvPr id="4" name="box-light-1"/>
          <p:cNvSpPr/>
          <p:nvPr/>
        </p:nvSpPr>
        <p:spPr>
          <a:xfrm>
            <a:off x="548640" y="1716024"/>
            <a:ext cx="11091672" cy="1481328"/>
          </a:xfrm>
          <a:prstGeom prst="roundRect">
            <a:avLst>
              <a:gd name="adj" fmla="val 4938"/>
            </a:avLst>
          </a:prstGeom>
          <a:solidFill>
            <a:srgbClr val="DEE6EF"/>
          </a:solidFill>
          <a:ln w="12700">
            <a:solidFill>
              <a:srgbClr val="DEE6EF"/>
            </a:solidFill>
            <a:prstDash val="solid"/>
          </a:ln>
        </p:spPr>
      </p:sp>
      <p:sp>
        <p:nvSpPr>
          <p:cNvPr id="5" name="text-2"/>
          <p:cNvSpPr txBox="1"/>
          <p:nvPr/>
        </p:nvSpPr>
        <p:spPr>
          <a:xfrm>
            <a:off x="713232" y="1880616"/>
            <a:ext cx="10762488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H0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(null):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among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adults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primary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care,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SBP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does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differ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adherence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score,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after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accounting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age,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sex,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BMI,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diabetes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smoking.</a:t>
            </a:r>
            <a:endParaRPr lang="en-US" sz="2200" dirty="0"/>
          </a:p>
        </p:txBody>
      </p:sp>
      <p:sp>
        <p:nvSpPr>
          <p:cNvPr id="6" name="text-3"/>
          <p:cNvSpPr txBox="1"/>
          <p:nvPr/>
        </p:nvSpPr>
        <p:spPr>
          <a:xfrm>
            <a:off x="713232" y="2697480"/>
            <a:ext cx="10762488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H1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(alternative):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SBP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does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differ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adherence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score.</a:t>
            </a:r>
            <a:endParaRPr lang="en-US" sz="2200" dirty="0"/>
          </a:p>
        </p:txBody>
      </p:sp>
      <p:sp>
        <p:nvSpPr>
          <p:cNvPr id="7" name="text-4"/>
          <p:cNvSpPr txBox="1"/>
          <p:nvPr/>
        </p:nvSpPr>
        <p:spPr>
          <a:xfrm>
            <a:off x="548640" y="3343656"/>
            <a:ext cx="11091672" cy="1874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Non-directional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H1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</a:t>
            </a:r>
            <a:r>
              <a:rPr lang="en-US" sz="2200" dirty="0">
                <a:solidFill>
                  <a:schemeClr val="tx1"/>
                </a:solidFill>
              </a:rPr>
              <a:t>“</a:t>
            </a:r>
            <a:r>
              <a:rPr lang="en-US" sz="2200" dirty="0">
                <a:solidFill>
                  <a:schemeClr val="tx1"/>
                </a:solidFill>
              </a:rPr>
              <a:t>differs</a:t>
            </a:r>
            <a:r>
              <a:rPr lang="en-US" sz="2200" dirty="0">
                <a:solidFill>
                  <a:schemeClr val="tx1"/>
                </a:solidFill>
              </a:rPr>
              <a:t>”</a:t>
            </a:r>
            <a:r>
              <a:rPr lang="en-US" sz="2200" dirty="0">
                <a:solidFill>
                  <a:schemeClr val="tx1"/>
                </a:solidFill>
              </a:rPr>
              <a:t>)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usual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default.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Directional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H1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</a:t>
            </a:r>
            <a:r>
              <a:rPr lang="en-US" sz="2200" dirty="0">
                <a:solidFill>
                  <a:schemeClr val="tx1"/>
                </a:solidFill>
              </a:rPr>
              <a:t>“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lower</a:t>
            </a:r>
            <a:r>
              <a:rPr lang="en-US" sz="2200" dirty="0">
                <a:solidFill>
                  <a:schemeClr val="tx1"/>
                </a:solidFill>
              </a:rPr>
              <a:t>”</a:t>
            </a:r>
            <a:r>
              <a:rPr lang="en-US" sz="2200" dirty="0">
                <a:solidFill>
                  <a:schemeClr val="tx1"/>
                </a:solidFill>
              </a:rPr>
              <a:t>)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needs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strong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prior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reason,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stated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before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H0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H1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must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name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same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population,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exposure,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comparison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and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outcome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Looking ahead: the estimand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estimand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exact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quantity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study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estimates.</a:t>
            </a:r>
            <a:endParaRPr lang="en-US" sz="2200" dirty="0"/>
          </a:p>
        </p:txBody>
      </p:sp>
      <p:sp>
        <p:nvSpPr>
          <p:cNvPr id="4" name="box-quote-1"/>
          <p:cNvSpPr/>
          <p:nvPr/>
        </p:nvSpPr>
        <p:spPr>
          <a:xfrm>
            <a:off x="548640" y="1716024"/>
            <a:ext cx="11091672" cy="999744"/>
          </a:xfrm>
          <a:prstGeom prst="roundRect">
            <a:avLst>
              <a:gd name="adj" fmla="val 7317"/>
            </a:avLst>
          </a:prstGeom>
          <a:solidFill>
            <a:srgbClr val="DEE6EF"/>
          </a:solidFill>
          <a:ln w="12700">
            <a:solidFill>
              <a:srgbClr val="DEE6EF"/>
            </a:solidFill>
            <a:prstDash val="solid"/>
          </a:ln>
        </p:spPr>
      </p:sp>
      <p:sp>
        <p:nvSpPr>
          <p:cNvPr id="5" name="text-2"/>
          <p:cNvSpPr txBox="1"/>
          <p:nvPr/>
        </p:nvSpPr>
        <p:spPr>
          <a:xfrm>
            <a:off x="713232" y="1880616"/>
            <a:ext cx="10762488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i="1" dirty="0">
                <a:solidFill>
                  <a:schemeClr val="tx1"/>
                </a:solidFill>
              </a:rPr>
              <a:t>The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difference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in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mean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SBP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per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10-point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higher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adherence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score,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among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patients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with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the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same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age,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sex,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BMI,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diabetes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and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smoking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status.</a:t>
            </a:r>
            <a:endParaRPr lang="en-US" sz="2200" dirty="0"/>
          </a:p>
        </p:txBody>
      </p:sp>
      <p:sp>
        <p:nvSpPr>
          <p:cNvPr id="6" name="text-3"/>
          <p:cNvSpPr txBox="1"/>
          <p:nvPr/>
        </p:nvSpPr>
        <p:spPr>
          <a:xfrm>
            <a:off x="548640" y="2862072"/>
            <a:ext cx="11091672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Writing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stops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from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choosing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analysis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later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just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because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gives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“</a:t>
            </a:r>
            <a:r>
              <a:rPr lang="en-US" sz="2200" dirty="0">
                <a:solidFill>
                  <a:schemeClr val="tx1"/>
                </a:solidFill>
              </a:rPr>
              <a:t>nice</a:t>
            </a:r>
            <a:r>
              <a:rPr lang="en-US" sz="2200" dirty="0">
                <a:solidFill>
                  <a:schemeClr val="tx1"/>
                </a:solidFill>
              </a:rPr>
              <a:t>”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p-value.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return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3.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3"/>
                </a:solidFill>
              </a:rPr>
              <a:t>AI assist · </a:t>
            </a:r>
            <a:r>
              <a:rPr lang="en-US" sz="3000" b="1" dirty="0">
                <a:solidFill>
                  <a:schemeClr val="tx2"/>
                </a:solidFill>
              </a:rPr>
              <a:t>Using AI to sharpen a question</a:t>
            </a:r>
            <a:endParaRPr lang="en-US" sz="3000" dirty="0"/>
          </a:p>
        </p:txBody>
      </p:sp>
      <p:sp>
        <p:nvSpPr>
          <p:cNvPr id="3" name="box-quote-0"/>
          <p:cNvSpPr/>
          <p:nvPr/>
        </p:nvSpPr>
        <p:spPr>
          <a:xfrm>
            <a:off x="548640" y="1234440"/>
            <a:ext cx="11091672" cy="1335024"/>
          </a:xfrm>
          <a:prstGeom prst="roundRect">
            <a:avLst>
              <a:gd name="adj" fmla="val 5479"/>
            </a:avLst>
          </a:prstGeom>
          <a:solidFill>
            <a:srgbClr val="DEE6EF"/>
          </a:solidFill>
          <a:ln w="12700">
            <a:solidFill>
              <a:srgbClr val="DEE6EF"/>
            </a:solidFill>
            <a:prstDash val="solid"/>
          </a:ln>
        </p:spPr>
      </p:sp>
      <p:sp>
        <p:nvSpPr>
          <p:cNvPr id="4" name="text-1"/>
          <p:cNvSpPr txBox="1"/>
          <p:nvPr/>
        </p:nvSpPr>
        <p:spPr>
          <a:xfrm>
            <a:off x="713232" y="1399032"/>
            <a:ext cx="10762488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i="1" dirty="0">
                <a:solidFill>
                  <a:schemeClr val="tx1"/>
                </a:solidFill>
              </a:rPr>
              <a:t>I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am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a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family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physician.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Here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is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my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draft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research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question: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[paste].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Using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PECO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and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FINER,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list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what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is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vague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or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missing.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Do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not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rewrite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it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for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me;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ask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me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questions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instead.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2715768"/>
            <a:ext cx="11091672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Check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before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you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accept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suggestion</a:t>
            </a:r>
            <a:endParaRPr lang="en-US" sz="2200" dirty="0"/>
          </a:p>
        </p:txBody>
      </p:sp>
      <p:sp>
        <p:nvSpPr>
          <p:cNvPr id="6" name="text-3"/>
          <p:cNvSpPr txBox="1"/>
          <p:nvPr/>
        </p:nvSpPr>
        <p:spPr>
          <a:xfrm>
            <a:off x="548640" y="3197352"/>
            <a:ext cx="11091672" cy="1539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Does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still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answer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clinical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question?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every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element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something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actually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measure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data?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Did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introduce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claim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about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literature?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verify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delete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3"/>
                </a:solidFill>
              </a:rPr>
              <a:t>Exercise · </a:t>
            </a:r>
            <a:r>
              <a:rPr lang="en-US" sz="3000" b="1" dirty="0">
                <a:solidFill>
                  <a:schemeClr val="tx2"/>
                </a:solidFill>
              </a:rPr>
              <a:t>Frame your clinical question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In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pairs,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25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minutes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11091672" cy="1615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Write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clinical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observation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from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own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practice.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0" dirty="0">
                <a:solidFill>
                  <a:schemeClr val="tx1"/>
                </a:solidFill>
              </a:rPr>
              <a:t>Turn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PICO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PECO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chemeClr val="tx1"/>
                </a:solidFill>
              </a:rPr>
              <a:t>Write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H0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H1.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Check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match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element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element.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200" dirty="0">
                <a:solidFill>
                  <a:schemeClr val="tx1"/>
                </a:solidFill>
              </a:rPr>
              <a:t>Run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FINER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check.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Revise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changed.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3432048"/>
            <a:ext cx="11091672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Done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when: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plus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hypotheses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refer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same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population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contrast.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worksheet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participant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workbook.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Block 2: Design and frameworks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2B5C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each design can and cannot tell you</a:t>
            </a:r>
            <a:endParaRPr lang="en-US" sz="3000" dirty="0"/>
          </a:p>
        </p:txBody>
      </p:sp>
      <p:graphicFrame>
        <p:nvGraphicFramePr>
          <p:cNvPr id="17" name="table-0"/>
          <p:cNvGraphicFramePr>
            <a:graphicFrameLocks noGrp="1"/>
          </p:cNvGraphicFramePr>
          <p:nvPr/>
        </p:nvGraphicFramePr>
        <p:xfrm>
          <a:off x="548640" y="1234440"/>
          <a:ext cx="11024616" cy="2340864"/>
        </p:xfrm>
        <a:graphic>
          <a:graphicData uri="http://schemas.openxmlformats.org/drawingml/2006/table">
            <a:tbl>
              <a:tblPr/>
              <a:tblGrid>
                <a:gridCol w="1931822"/>
                <a:gridCol w="4996391"/>
                <a:gridCol w="4096403"/>
              </a:tblGrid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Design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Supports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Cannot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support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on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its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own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Case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series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Description,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hypothesis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generation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Comparison,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causation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Cross-sectional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Prevalence,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associations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one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time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point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Which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came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first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Case-control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Associations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for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rare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outcomes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(odds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ratios)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Incidence;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prone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recall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bias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Cohort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Incidence,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temporal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order,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ratios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Freedom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from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confounding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Randomised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trial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Causal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effect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of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assigned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intervention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Generalisation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beyond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its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population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3721608"/>
            <a:ext cx="11091672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teaching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cross-sectional</a:t>
            </a:r>
            <a:r>
              <a:rPr lang="en-US" sz="2200" dirty="0">
                <a:solidFill>
                  <a:schemeClr val="tx1"/>
                </a:solidFill>
              </a:rPr>
              <a:t>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adherence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measured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same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visit.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Association is not causation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cross-sectional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link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between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adherence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could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arise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because: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11091672" cy="2026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adherence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lowers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causal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story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might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hope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for)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high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readings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prompt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doctors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stress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adherence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</a:t>
            </a:r>
            <a:r>
              <a:rPr lang="en-US" sz="2200" b="1" dirty="0">
                <a:solidFill>
                  <a:schemeClr val="tx1"/>
                </a:solidFill>
              </a:rPr>
              <a:t>reverse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causation</a:t>
            </a:r>
            <a:r>
              <a:rPr lang="en-US" sz="2200" dirty="0">
                <a:solidFill>
                  <a:schemeClr val="tx1"/>
                </a:solidFill>
              </a:rPr>
              <a:t>)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third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factor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affects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both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</a:t>
            </a:r>
            <a:r>
              <a:rPr lang="en-US" sz="2200" b="1" dirty="0">
                <a:solidFill>
                  <a:schemeClr val="tx1"/>
                </a:solidFill>
              </a:rPr>
              <a:t>confounding</a:t>
            </a:r>
            <a:r>
              <a:rPr lang="en-US" sz="2200" dirty="0">
                <a:solidFill>
                  <a:schemeClr val="tx1"/>
                </a:solidFill>
              </a:rPr>
              <a:t>)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way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patients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entered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dataset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links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two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</a:t>
            </a:r>
            <a:r>
              <a:rPr lang="en-US" sz="2200" b="1" dirty="0">
                <a:solidFill>
                  <a:schemeClr val="tx1"/>
                </a:solidFill>
              </a:rPr>
              <a:t>selection</a:t>
            </a:r>
            <a:r>
              <a:rPr lang="en-US" sz="2200" dirty="0">
                <a:solidFill>
                  <a:schemeClr val="tx1"/>
                </a:solidFill>
              </a:rPr>
              <a:t>)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adherence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measured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error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</a:t>
            </a:r>
            <a:r>
              <a:rPr lang="en-US" sz="2200" b="1" dirty="0">
                <a:solidFill>
                  <a:schemeClr val="tx1"/>
                </a:solidFill>
              </a:rPr>
              <a:t>measurement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bias</a:t>
            </a:r>
            <a:r>
              <a:rPr lang="en-US" sz="2200" dirty="0">
                <a:solidFill>
                  <a:schemeClr val="tx1"/>
                </a:solidFill>
              </a:rPr>
              <a:t>)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3843528"/>
            <a:ext cx="11091672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design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decides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which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rule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out.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discussion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must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address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rest.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Variable roles</a:t>
            </a:r>
            <a:endParaRPr lang="en-US" sz="3000" dirty="0"/>
          </a:p>
        </p:txBody>
      </p:sp>
      <p:pic>
        <p:nvPicPr>
          <p:cNvPr id="3" name="picture-0" descr="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340096" cy="1392689"/>
          </a:xfrm>
          <a:prstGeom prst="rect">
            <a:avLst/>
          </a:prstGeom>
        </p:spPr>
      </p:pic>
      <p:sp>
        <p:nvSpPr>
          <p:cNvPr id="4" name="text-1"/>
          <p:cNvSpPr txBox="1"/>
          <p:nvPr/>
        </p:nvSpPr>
        <p:spPr>
          <a:xfrm>
            <a:off x="6300216" y="1234440"/>
            <a:ext cx="5340096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Confounder: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causes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both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exposure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outcome.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Adjust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for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it.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Mediator: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from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exposure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outcome.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Adjusting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removes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part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of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the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effect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you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want.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Collider: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caused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both.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Adjusting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or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selecting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on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it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creates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false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associations.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Teaching case variable map</a:t>
            </a:r>
            <a:endParaRPr lang="en-US" sz="3000" dirty="0"/>
          </a:p>
        </p:txBody>
      </p:sp>
      <p:pic>
        <p:nvPicPr>
          <p:cNvPr id="3" name="picture-0" descr="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11091672" cy="4096787"/>
          </a:xfrm>
          <a:prstGeom prst="rect">
            <a:avLst/>
          </a:prstGeom>
        </p:spPr>
      </p:pic>
      <p:sp>
        <p:nvSpPr>
          <p:cNvPr id="4" name="text-1"/>
          <p:cNvSpPr txBox="1"/>
          <p:nvPr/>
        </p:nvSpPr>
        <p:spPr>
          <a:xfrm>
            <a:off x="548640" y="5477531"/>
            <a:ext cx="11091672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Dashed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lines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unmeasured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constructs.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Income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access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could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confound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association,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cannot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adjust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them.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Conceptual and theoretical frameworks</a:t>
            </a:r>
            <a:endParaRPr lang="en-US" sz="3000" dirty="0"/>
          </a:p>
        </p:txBody>
      </p:sp>
      <p:graphicFrame>
        <p:nvGraphicFramePr>
          <p:cNvPr id="21" name="table-0"/>
          <p:cNvGraphicFramePr>
            <a:graphicFrameLocks noGrp="1"/>
          </p:cNvGraphicFramePr>
          <p:nvPr/>
        </p:nvGraphicFramePr>
        <p:xfrm>
          <a:off x="548640" y="1234440"/>
          <a:ext cx="11091672" cy="2438400"/>
        </p:xfrm>
        <a:graphic>
          <a:graphicData uri="http://schemas.openxmlformats.org/drawingml/2006/table">
            <a:tbl>
              <a:tblPr/>
              <a:tblGrid>
                <a:gridCol w="1082489"/>
                <a:gridCol w="5502728"/>
                <a:gridCol w="4506455"/>
              </a:tblGrid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Conceptual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framework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Theoretical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framework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What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Your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of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how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you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think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relate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established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theory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that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explains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why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Source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Literature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plus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clinical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reasoning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Published,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tested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theory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Used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for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Choosing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adjustment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sets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Interpreting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findings;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framing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discussion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Example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previous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slide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COM-B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model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of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behaviour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3819144"/>
            <a:ext cx="11091672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framework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links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literature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review</a:t>
            </a:r>
            <a:r>
              <a:rPr lang="en-US" sz="2200" dirty="0">
                <a:solidFill>
                  <a:schemeClr val="tx1"/>
                </a:solidFill>
              </a:rPr>
              <a:t>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analysis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discussion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Each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source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read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should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construct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 theoretical lens: COM-B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Behaviour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(taking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medication)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depends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</a:t>
            </a:r>
            <a:r>
              <a:rPr lang="en-US" sz="2200" dirty="0">
                <a:solidFill>
                  <a:schemeClr val="tx1"/>
                </a:solidFill>
              </a:rPr>
              <a:t>apability,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O</a:t>
            </a:r>
            <a:r>
              <a:rPr lang="en-US" sz="2200" dirty="0">
                <a:solidFill>
                  <a:schemeClr val="tx1"/>
                </a:solidFill>
              </a:rPr>
              <a:t>pportunity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</a:t>
            </a:r>
            <a:r>
              <a:rPr lang="en-US" sz="2200" dirty="0">
                <a:solidFill>
                  <a:schemeClr val="tx1"/>
                </a:solidFill>
              </a:rPr>
              <a:t>otivation.</a:t>
            </a:r>
            <a:endParaRPr lang="en-US" sz="2200" dirty="0"/>
          </a:p>
        </p:txBody>
      </p:sp>
      <p:graphicFrame>
        <p:nvGraphicFramePr>
          <p:cNvPr id="22" name="table-1"/>
          <p:cNvGraphicFramePr>
            <a:graphicFrameLocks noGrp="1"/>
          </p:cNvGraphicFramePr>
          <p:nvPr/>
        </p:nvGraphicFramePr>
        <p:xfrm>
          <a:off x="548640" y="2051304"/>
          <a:ext cx="8763000" cy="2194560"/>
        </p:xfrm>
        <a:graphic>
          <a:graphicData uri="http://schemas.openxmlformats.org/drawingml/2006/table">
            <a:tbl>
              <a:tblPr/>
              <a:tblGrid>
                <a:gridCol w="1752600"/>
                <a:gridCol w="4556760"/>
                <a:gridCol w="2453640"/>
              </a:tblGrid>
              <a:tr h="633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COM-B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construct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adherence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Measured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our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data?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Capability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Understanding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regimen,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memory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Opportunity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Cost,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pharmacy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access,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social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support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Motivation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Beliefs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medicines,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perceived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need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Behaviour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Adherence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score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</a:tbl>
          </a:graphicData>
        </a:graphic>
      </p:graphicFrame>
      <p:sp>
        <p:nvSpPr>
          <p:cNvPr id="5" name="box-warn-2"/>
          <p:cNvSpPr/>
          <p:nvPr/>
        </p:nvSpPr>
        <p:spPr>
          <a:xfrm>
            <a:off x="548640" y="4392168"/>
            <a:ext cx="11091672" cy="999744"/>
          </a:xfrm>
          <a:prstGeom prst="roundRect">
            <a:avLst>
              <a:gd name="adj" fmla="val 7317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6" name="text-3"/>
          <p:cNvSpPr txBox="1"/>
          <p:nvPr/>
        </p:nvSpPr>
        <p:spPr>
          <a:xfrm>
            <a:off x="713232" y="4556760"/>
            <a:ext cx="10762488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We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COM-B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interpret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findings.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test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Never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claim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mechanism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measure.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3"/>
                </a:solidFill>
              </a:rPr>
              <a:t>Exercise · </a:t>
            </a:r>
            <a:r>
              <a:rPr lang="en-US" sz="3000" b="1" dirty="0">
                <a:solidFill>
                  <a:schemeClr val="tx2"/>
                </a:solidFill>
              </a:rPr>
              <a:t>Draw your variable and framework map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In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pairs,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30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minutes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11091672" cy="2026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Place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exposure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outcome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page.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0" dirty="0">
                <a:solidFill>
                  <a:schemeClr val="tx1"/>
                </a:solidFill>
              </a:rPr>
              <a:t>Add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least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two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confounders,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mediator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possible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collider.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chemeClr val="tx1"/>
                </a:solidFill>
              </a:rPr>
              <a:t>Mark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each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construct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measured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unmeasured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200" dirty="0">
                <a:solidFill>
                  <a:schemeClr val="tx1"/>
                </a:solidFill>
              </a:rPr>
              <a:t>Name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framework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theory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could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help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interpret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findings.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5"/>
            </a:pPr>
            <a:r>
              <a:rPr lang="en-US" sz="2200" dirty="0">
                <a:solidFill>
                  <a:schemeClr val="tx1"/>
                </a:solidFill>
              </a:rPr>
              <a:t>Write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explicit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limitation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reveals.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3843528"/>
            <a:ext cx="11091672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Done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when: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one-page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measured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unmeasured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constructs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limitation.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Block 3: Searching and organising with Zotero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2B5C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Literature review in the AI age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What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has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not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changed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11091672" cy="1203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reproducible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search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strategy,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recorded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go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Reading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actual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sources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Judging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quality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relevance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yourself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3020568"/>
            <a:ext cx="11091672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What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AI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changes</a:t>
            </a:r>
            <a:endParaRPr lang="en-US" sz="2200" dirty="0"/>
          </a:p>
        </p:txBody>
      </p:sp>
      <p:sp>
        <p:nvSpPr>
          <p:cNvPr id="6" name="text-3"/>
          <p:cNvSpPr txBox="1"/>
          <p:nvPr/>
        </p:nvSpPr>
        <p:spPr>
          <a:xfrm>
            <a:off x="548640" y="3502152"/>
            <a:ext cx="11091672" cy="1203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Faster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brainstorming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terms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synonyms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Faster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first-pass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summaries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sources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you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supply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New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risks: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invented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references,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confident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misreadings,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missing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context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Build a search from concept blocks</a:t>
            </a:r>
            <a:endParaRPr lang="en-US" sz="3000" dirty="0"/>
          </a:p>
        </p:txBody>
      </p:sp>
      <p:graphicFrame>
        <p:nvGraphicFramePr>
          <p:cNvPr id="26" name="table-0"/>
          <p:cNvGraphicFramePr>
            <a:graphicFrameLocks noGrp="1"/>
          </p:cNvGraphicFramePr>
          <p:nvPr/>
        </p:nvGraphicFramePr>
        <p:xfrm>
          <a:off x="548640" y="1234440"/>
          <a:ext cx="10055352" cy="1804416"/>
        </p:xfrm>
        <a:graphic>
          <a:graphicData uri="http://schemas.openxmlformats.org/drawingml/2006/table">
            <a:tbl>
              <a:tblPr/>
              <a:tblGrid>
                <a:gridCol w="1589349"/>
                <a:gridCol w="5288760"/>
                <a:gridCol w="3177243"/>
              </a:tblGrid>
              <a:tr h="633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Concept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Free-text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terms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Controlled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vocabulary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(MeSH)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Adherence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adherence,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compliance,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persistence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Medication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Adherence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Hypertension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hypertension,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blood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pressure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Hypertension;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Blood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Pressure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Setting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primary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care,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general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practice,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family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medicine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Primary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Health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Care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3185160"/>
            <a:ext cx="11091672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Combine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within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block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between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blocks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AND:</a:t>
            </a:r>
            <a:endParaRPr lang="en-US" sz="2200" dirty="0"/>
          </a:p>
        </p:txBody>
      </p:sp>
      <p:sp>
        <p:nvSpPr>
          <p:cNvPr id="5" name="code-bg-2"/>
          <p:cNvSpPr/>
          <p:nvPr/>
        </p:nvSpPr>
        <p:spPr>
          <a:xfrm>
            <a:off x="548640" y="3666744"/>
            <a:ext cx="11091672" cy="1042416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code-3"/>
          <p:cNvSpPr txBox="1"/>
          <p:nvPr/>
        </p:nvSpPr>
        <p:spPr>
          <a:xfrm>
            <a:off x="685800" y="3776472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("medication adherence"[MeSH] OR adherence OR compliance)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AND (hypertension[MeSH] OR "blood pressure")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AND ("primary health care"[MeSH] OR "primary care" OR "general practice")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Keep a search log</a:t>
            </a:r>
            <a:endParaRPr lang="en-US" sz="3000" dirty="0"/>
          </a:p>
        </p:txBody>
      </p:sp>
      <p:graphicFrame>
        <p:nvGraphicFramePr>
          <p:cNvPr id="27" name="table-0"/>
          <p:cNvGraphicFramePr>
            <a:graphicFrameLocks noGrp="1"/>
          </p:cNvGraphicFramePr>
          <p:nvPr/>
        </p:nvGraphicFramePr>
        <p:xfrm>
          <a:off x="548640" y="1234440"/>
          <a:ext cx="11091673" cy="1267968"/>
        </p:xfrm>
        <a:graphic>
          <a:graphicData uri="http://schemas.openxmlformats.org/drawingml/2006/table">
            <a:tbl>
              <a:tblPr/>
              <a:tblGrid>
                <a:gridCol w="1361034"/>
                <a:gridCol w="1205779"/>
                <a:gridCol w="1467488"/>
                <a:gridCol w="2322362"/>
                <a:gridCol w="1082489"/>
                <a:gridCol w="3652521"/>
              </a:tblGrid>
              <a:tr h="633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Database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Search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string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Limits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Results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Notes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2026-11-02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PubMed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(see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above)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2015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onwards,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English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412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broad;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study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design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filter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2648712"/>
            <a:ext cx="11091672" cy="1539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Record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every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search,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including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work.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log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lets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someone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else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rerun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search,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required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reporting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guidelines.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Template: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rgbClr val="0023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literature/search_log_template.csv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Zotero: your reference library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520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Install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Zotero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desktop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Zotero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Connector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browser.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0" dirty="0">
                <a:solidFill>
                  <a:schemeClr val="tx1"/>
                </a:solidFill>
              </a:rPr>
              <a:t>Make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collection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project.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chemeClr val="tx1"/>
                </a:solidFill>
              </a:rPr>
              <a:t>Save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records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browser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button,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paste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DOI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PMID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Add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Item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by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Identifier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magic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wand).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200" b="1" dirty="0">
                <a:solidFill>
                  <a:schemeClr val="tx1"/>
                </a:solidFill>
              </a:rPr>
              <a:t>Check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the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metadata: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authors,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year,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journal,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volume,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pages,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DOI.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5"/>
            </a:pPr>
            <a:r>
              <a:rPr lang="en-US" sz="2200" dirty="0">
                <a:solidFill>
                  <a:schemeClr val="tx1"/>
                </a:solidFill>
              </a:rPr>
              <a:t>Attach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PDF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where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have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legal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access.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6"/>
            </a:pPr>
            <a:r>
              <a:rPr lang="en-US" sz="2200" dirty="0">
                <a:solidFill>
                  <a:schemeClr val="tx1"/>
                </a:solidFill>
              </a:rPr>
              <a:t>Read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Zotero’s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PDF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reader.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Highlight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annotate</a:t>
            </a:r>
            <a:r>
              <a:rPr lang="en-US" sz="2200" dirty="0">
                <a:solidFill>
                  <a:schemeClr val="tx1"/>
                </a:solidFill>
              </a:rPr>
              <a:t>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Add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Note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from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Annotations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7"/>
            </a:pPr>
            <a:r>
              <a:rPr lang="en-US" sz="2200" dirty="0">
                <a:solidFill>
                  <a:schemeClr val="tx1"/>
                </a:solidFill>
              </a:rPr>
              <a:t>Use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tags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framework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constructs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example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rgbClr val="0023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COM-B:motivation</a:t>
            </a:r>
            <a:r>
              <a:rPr lang="en-US" sz="2200" dirty="0">
                <a:solidFill>
                  <a:schemeClr val="tx1"/>
                </a:solidFill>
              </a:rPr>
              <a:t>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Verify every record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tool,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colleague’s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slide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reference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contain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errors.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Before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source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enters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matrix: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2051304"/>
            <a:ext cx="11091672" cy="1950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Does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DOI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PMID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resolve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this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paper?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title,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authors,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year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journal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match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publisher’s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page?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retracted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corrected?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(Check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publisher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page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Retraction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Watch.)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Did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read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relevant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passage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yourself?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4102608"/>
            <a:ext cx="11091672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Mark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each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record’s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status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matrix: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verified</a:t>
            </a:r>
            <a:r>
              <a:rPr lang="en-US" sz="2200" dirty="0">
                <a:solidFill>
                  <a:schemeClr val="tx1"/>
                </a:solidFill>
              </a:rPr>
              <a:t>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pending</a:t>
            </a:r>
            <a:r>
              <a:rPr lang="en-US" sz="2200" dirty="0">
                <a:solidFill>
                  <a:schemeClr val="tx1"/>
                </a:solidFill>
              </a:rPr>
              <a:t>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rejected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3"/>
                </a:solidFill>
              </a:rPr>
              <a:t>Exercise · </a:t>
            </a:r>
            <a:r>
              <a:rPr lang="en-US" sz="3000" b="1" dirty="0">
                <a:solidFill>
                  <a:schemeClr val="tx2"/>
                </a:solidFill>
              </a:rPr>
              <a:t>Search and Zotero practicum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Individually,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with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partner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checking,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45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minutes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11091672" cy="2026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Build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concept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blocks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0" dirty="0">
                <a:solidFill>
                  <a:schemeClr val="tx1"/>
                </a:solidFill>
              </a:rPr>
              <a:t>Run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search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PubMed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record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search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log.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chemeClr val="tx1"/>
                </a:solidFill>
              </a:rPr>
              <a:t>Import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three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relevant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records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Zotero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collection.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200" dirty="0">
                <a:solidFill>
                  <a:schemeClr val="tx1"/>
                </a:solidFill>
              </a:rPr>
              <a:t>Verify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each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record’s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metadata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against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source.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5"/>
            </a:pPr>
            <a:r>
              <a:rPr lang="en-US" sz="2200" dirty="0">
                <a:solidFill>
                  <a:schemeClr val="tx1"/>
                </a:solidFill>
              </a:rPr>
              <a:t>Annotate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PDF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create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from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annotations.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3843528"/>
            <a:ext cx="11091672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Done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when: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search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log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entry,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three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verified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Zotero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records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linked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PDF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Block 4: Source-grounded synthesis with NotebookLM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2B5C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a source-grounded tool does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NotebookLM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(also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available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notebooks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inside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Gemini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app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some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accounts)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answers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using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only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the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sources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you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upload</a:t>
            </a:r>
            <a:r>
              <a:rPr lang="en-US" sz="2200" dirty="0">
                <a:solidFill>
                  <a:schemeClr val="tx1"/>
                </a:solidFill>
              </a:rPr>
              <a:t>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shows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citations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passages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them.</a:t>
            </a:r>
            <a:endParaRPr lang="en-US" sz="2200" dirty="0"/>
          </a:p>
        </p:txBody>
      </p:sp>
      <p:graphicFrame>
        <p:nvGraphicFramePr>
          <p:cNvPr id="32" name="table-1"/>
          <p:cNvGraphicFramePr>
            <a:graphicFrameLocks noGrp="1"/>
          </p:cNvGraphicFramePr>
          <p:nvPr/>
        </p:nvGraphicFramePr>
        <p:xfrm>
          <a:off x="548640" y="2386584"/>
          <a:ext cx="9072880" cy="1560576"/>
        </p:xfrm>
        <a:graphic>
          <a:graphicData uri="http://schemas.openxmlformats.org/drawingml/2006/table">
            <a:tbl>
              <a:tblPr/>
              <a:tblGrid>
                <a:gridCol w="4763262"/>
                <a:gridCol w="4309618"/>
              </a:tblGrid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It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is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good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It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is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not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Finding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where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your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sources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discuss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search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engine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for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new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literature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Comparing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what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several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sources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say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judge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of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study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quality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Drafting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first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summary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for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you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check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Immune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misreading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tables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numbers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2"/>
          <p:cNvSpPr txBox="1"/>
          <p:nvPr/>
        </p:nvSpPr>
        <p:spPr>
          <a:xfrm>
            <a:off x="548640" y="4093464"/>
            <a:ext cx="11091672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only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institution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allows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only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sources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permitted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upload.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From Zotero to NotebookLM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There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built-in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link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between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two,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move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files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purpose,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keeping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Zotero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master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record.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2051304"/>
            <a:ext cx="11091672" cy="411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Zotero,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select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verified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items,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drag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their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PDF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attachments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folder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computer.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0" dirty="0">
                <a:solidFill>
                  <a:schemeClr val="tx1"/>
                </a:solidFill>
              </a:rPr>
              <a:t>Optionally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export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annotation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Markdown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(right-click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Export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Note</a:t>
            </a:r>
            <a:r>
              <a:rPr lang="en-US" sz="2200" dirty="0">
                <a:solidFill>
                  <a:schemeClr val="tx1"/>
                </a:solidFill>
              </a:rPr>
              <a:t>).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NotebookLM,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create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notebook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project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add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sources</a:t>
            </a:r>
            <a:r>
              <a:rPr lang="en-US" sz="2200" dirty="0">
                <a:solidFill>
                  <a:schemeClr val="tx1"/>
                </a:solidFill>
              </a:rPr>
              <a:t>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upload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PDFs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notes.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200" dirty="0">
                <a:solidFill>
                  <a:schemeClr val="tx1"/>
                </a:solidFill>
              </a:rPr>
              <a:t>Ask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bounded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(next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slide).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Click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each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citation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passage.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5"/>
            </a:pPr>
            <a:r>
              <a:rPr lang="en-US" sz="2200" dirty="0">
                <a:solidFill>
                  <a:schemeClr val="tx1"/>
                </a:solidFill>
              </a:rPr>
              <a:t>Copy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findings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literature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matrix</a:t>
            </a:r>
            <a:r>
              <a:rPr lang="en-US" sz="2200" dirty="0">
                <a:solidFill>
                  <a:schemeClr val="tx1"/>
                </a:solidFill>
              </a:rPr>
              <a:t>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page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passage,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after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verify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them.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6"/>
            </a:pPr>
            <a:r>
              <a:rPr lang="en-US" sz="2200" dirty="0">
                <a:solidFill>
                  <a:schemeClr val="tx1"/>
                </a:solidFill>
              </a:rPr>
              <a:t>Cite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from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Zotero</a:t>
            </a:r>
            <a:r>
              <a:rPr lang="en-US" sz="2200" dirty="0">
                <a:solidFill>
                  <a:schemeClr val="tx1"/>
                </a:solidFill>
              </a:rPr>
              <a:t>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never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from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output.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Ask bounded questions</a:t>
            </a:r>
            <a:endParaRPr lang="en-US" sz="3000" dirty="0"/>
          </a:p>
        </p:txBody>
      </p:sp>
      <p:graphicFrame>
        <p:nvGraphicFramePr>
          <p:cNvPr id="34" name="table-0"/>
          <p:cNvGraphicFramePr>
            <a:graphicFrameLocks noGrp="1"/>
          </p:cNvGraphicFramePr>
          <p:nvPr/>
        </p:nvGraphicFramePr>
        <p:xfrm>
          <a:off x="548640" y="1234440"/>
          <a:ext cx="11091672" cy="2292096"/>
        </p:xfrm>
        <a:graphic>
          <a:graphicData uri="http://schemas.openxmlformats.org/drawingml/2006/table">
            <a:tbl>
              <a:tblPr/>
              <a:tblGrid>
                <a:gridCol w="4753574"/>
                <a:gridCol w="6338098"/>
              </a:tblGrid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Weak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prompt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Bounded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prompt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What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does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literature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say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about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adherence?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In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each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uploaded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source,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how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was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medication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adherence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measured?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Quote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passage.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Summarise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these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papers.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For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each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source,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give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population,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design,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sample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size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main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effect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estimate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with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its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CI,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citing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page.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Is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adherence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linked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BP?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Which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sources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report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an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association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between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adherence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systolic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BP?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Give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exact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numbers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passage.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3672840"/>
            <a:ext cx="11091672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Bounded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easier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check,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harder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tool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answer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from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air.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Five checks for every AI-supported claim</a:t>
            </a:r>
            <a:endParaRPr lang="en-US" sz="3000" dirty="0"/>
          </a:p>
        </p:txBody>
      </p:sp>
      <p:graphicFrame>
        <p:nvGraphicFramePr>
          <p:cNvPr id="35" name="table-0"/>
          <p:cNvGraphicFramePr>
            <a:graphicFrameLocks noGrp="1"/>
          </p:cNvGraphicFramePr>
          <p:nvPr/>
        </p:nvGraphicFramePr>
        <p:xfrm>
          <a:off x="548640" y="1234440"/>
          <a:ext cx="7780528" cy="2828544"/>
        </p:xfrm>
        <a:graphic>
          <a:graphicData uri="http://schemas.openxmlformats.org/drawingml/2006/table">
            <a:tbl>
              <a:tblPr/>
              <a:tblGrid>
                <a:gridCol w="1082489"/>
                <a:gridCol w="6698039"/>
              </a:tblGrid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Check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Ask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Entity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this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right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paper,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population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variable?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Passage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cited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passage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actually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this?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Context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main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finding,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subgroup,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limitation,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someone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else’s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result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being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quoted?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Numbers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estimates,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CIs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sample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sizes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match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table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paper?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Record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source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Zotero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with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verified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metadata?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4209288"/>
            <a:ext cx="11091672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claim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fails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check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does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go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matrix.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Literature matrix and annotated bibliography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5874106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Literature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matrix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row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source)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5874106" cy="1722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Citation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·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design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·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population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·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exposure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measure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·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outcome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measure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·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estimate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(95%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CI)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·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framework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construct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·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quality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·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supporting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passage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page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·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verification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status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6834226" y="1234440"/>
            <a:ext cx="4806086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Annotated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bibliography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entry</a:t>
            </a:r>
            <a:endParaRPr lang="en-US" sz="2200" dirty="0"/>
          </a:p>
        </p:txBody>
      </p:sp>
      <p:sp>
        <p:nvSpPr>
          <p:cNvPr id="6" name="text-3"/>
          <p:cNvSpPr txBox="1"/>
          <p:nvPr/>
        </p:nvSpPr>
        <p:spPr>
          <a:xfrm>
            <a:off x="6834226" y="1716024"/>
            <a:ext cx="4806086" cy="2621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Full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citation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(from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Zotero)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0" dirty="0">
                <a:solidFill>
                  <a:schemeClr val="tx1"/>
                </a:solidFill>
              </a:rPr>
              <a:t>Two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three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sentences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was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found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sentence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strengths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limitations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sentence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how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relates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framework</a:t>
            </a:r>
            <a:endParaRPr lang="en-US" sz="2200" dirty="0"/>
          </a:p>
        </p:txBody>
      </p:sp>
      <p:sp>
        <p:nvSpPr>
          <p:cNvPr id="7" name="text-4"/>
          <p:cNvSpPr txBox="1"/>
          <p:nvPr/>
        </p:nvSpPr>
        <p:spPr>
          <a:xfrm>
            <a:off x="548640" y="4437888"/>
            <a:ext cx="11091672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Templates: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rgbClr val="0023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literature/literature_matrix_template.csv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rgbClr val="0023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templates/Annotated_Bibliography_Template.docx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3"/>
                </a:solidFill>
              </a:rPr>
              <a:t>Exercise · </a:t>
            </a:r>
            <a:r>
              <a:rPr lang="en-US" sz="3000" b="1" dirty="0">
                <a:solidFill>
                  <a:schemeClr val="tx2"/>
                </a:solidFill>
              </a:rPr>
              <a:t>Build and audit a literature mini-set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In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pairs,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50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minutes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11091672" cy="2773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Upload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three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verified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sources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NotebookLM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notebook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printed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excerpts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have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access).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0" dirty="0">
                <a:solidFill>
                  <a:schemeClr val="tx1"/>
                </a:solidFill>
              </a:rPr>
              <a:t>Ask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three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bounded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questions.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chemeClr val="tx1"/>
                </a:solidFill>
              </a:rPr>
              <a:t>Audit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each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answer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five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checks.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200" dirty="0">
                <a:solidFill>
                  <a:schemeClr val="tx1"/>
                </a:solidFill>
              </a:rPr>
              <a:t>Complete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three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rows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literature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matrix.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5"/>
            </a:pPr>
            <a:r>
              <a:rPr lang="en-US" sz="2200" dirty="0">
                <a:solidFill>
                  <a:schemeClr val="tx1"/>
                </a:solidFill>
              </a:rPr>
              <a:t>Write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annotated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bibliography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entry.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Font typeface="+mj-lt"/>
              <a:buAutoNum type="arabicPeriod" startAt="6"/>
            </a:pPr>
            <a:r>
              <a:rPr lang="en-US" sz="2200" dirty="0">
                <a:solidFill>
                  <a:schemeClr val="tx1"/>
                </a:solidFill>
              </a:rPr>
              <a:t>Log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use.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4590288"/>
            <a:ext cx="11091672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Done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when: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three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matrix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rows,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annotated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entry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verification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status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each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claim.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Day 1 exit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should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have: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11091672" cy="1615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focused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matched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H0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H1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variable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framework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map,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measured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unmeasured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constructs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search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log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three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verified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Zotero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records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notes</a:t>
            </a:r>
            <a:endParaRPr lang="en-US" sz="2200" dirty="0"/>
          </a:p>
          <a:p>
            <a:pPr marL="292735" indent="-292735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three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verified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matrix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rows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annotated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bibliography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entry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3432048"/>
            <a:ext cx="11091672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Before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tomorrow: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open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rgbClr val="0023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notebooks/python/00_setup_and_orientation.ipynb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version),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choose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kernel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Run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All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ready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prints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Setup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check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passed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xusHealth">
      <a:dk1>
        <a:srgbClr val="1D1D1F"/>
      </a:dk1>
      <a:lt1>
        <a:srgbClr val="FFFFFF"/>
      </a:lt1>
      <a:dk2>
        <a:srgbClr val="002366"/>
      </a:dk2>
      <a:lt2>
        <a:srgbClr val="DEE6EF"/>
      </a:lt2>
      <a:accent1>
        <a:srgbClr val="002366"/>
      </a:accent1>
      <a:accent2>
        <a:srgbClr val="A2B5CD"/>
      </a:accent2>
      <a:accent3>
        <a:srgbClr val="4A5D7E"/>
      </a:accent3>
      <a:accent4>
        <a:srgbClr val="B35C00"/>
      </a:accent4>
      <a:accent5>
        <a:srgbClr val="6B8BB8"/>
      </a:accent5>
      <a:accent6>
        <a:srgbClr val="2E7D5B"/>
      </a:accent6>
      <a:hlink>
        <a:srgbClr val="002366"/>
      </a:hlink>
      <a:folHlink>
        <a:srgbClr val="4A5D7E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NexusHealth">
      <a:dk1>
        <a:srgbClr val="1D1D1F"/>
      </a:dk1>
      <a:lt1>
        <a:srgbClr val="FFFFFF"/>
      </a:lt1>
      <a:dk2>
        <a:srgbClr val="002366"/>
      </a:dk2>
      <a:lt2>
        <a:srgbClr val="DEE6EF"/>
      </a:lt2>
      <a:accent1>
        <a:srgbClr val="002366"/>
      </a:accent1>
      <a:accent2>
        <a:srgbClr val="A2B5CD"/>
      </a:accent2>
      <a:accent3>
        <a:srgbClr val="4A5D7E"/>
      </a:accent3>
      <a:accent4>
        <a:srgbClr val="B35C00"/>
      </a:accent4>
      <a:accent5>
        <a:srgbClr val="6B8BB8"/>
      </a:accent5>
      <a:accent6>
        <a:srgbClr val="2E7D5B"/>
      </a:accent6>
      <a:hlink>
        <a:srgbClr val="002366"/>
      </a:hlink>
      <a:folHlink>
        <a:srgbClr val="4A5D7E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14000</Words>
  <Application>WPS Presentation</Application>
  <PresentationFormat>On-screen Show (16:9)</PresentationFormat>
  <Paragraphs>699</Paragraphs>
  <Slides>37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7" baseType="lpstr">
      <vt:lpstr>Arial</vt:lpstr>
      <vt:lpstr>SimSun</vt:lpstr>
      <vt:lpstr>Wingdings</vt:lpstr>
      <vt:lpstr>Microsoft YaHei</vt:lpstr>
      <vt:lpstr>Droid Sans Fallback</vt:lpstr>
      <vt:lpstr>Arial Unicode MS</vt:lpstr>
      <vt:lpstr>Courier New</vt:lpstr>
      <vt:lpstr>Courier New</vt:lpstr>
      <vt:lpstr>Courier New</vt:lpstr>
      <vt:lpstr>Office Theme</vt:lpstr>
      <vt:lpstr>PowerPoint 演示文稿</vt:lpstr>
      <vt:lpstr>Welcome</vt:lpstr>
      <vt:lpstr>The daily rhythm</vt:lpstr>
      <vt:lpstr>Ground rules</vt:lpstr>
      <vt:lpstr>How we use AI in this course</vt:lpstr>
      <vt:lpstr>Our teaching case</vt:lpstr>
      <vt:lpstr>Block 1: Questions and hypotheses</vt:lpstr>
      <vt:lpstr>From observation to question</vt:lpstr>
      <vt:lpstr>PICO and PECO</vt:lpstr>
      <vt:lpstr>Is it a good question? FINER</vt:lpstr>
      <vt:lpstr>Hypotheses</vt:lpstr>
      <vt:lpstr>Looking ahead: the estimand</vt:lpstr>
      <vt:lpstr>AI assist · Using AI to sharpen a question</vt:lpstr>
      <vt:lpstr>Exercise · Frame your clinical question</vt:lpstr>
      <vt:lpstr>Block 2: Design and frameworks</vt:lpstr>
      <vt:lpstr>What each design can and cannot tell you</vt:lpstr>
      <vt:lpstr>Association is not causation</vt:lpstr>
      <vt:lpstr>Variable roles</vt:lpstr>
      <vt:lpstr>Teaching case variable map</vt:lpstr>
      <vt:lpstr>Conceptual and theoretical frameworks</vt:lpstr>
      <vt:lpstr>A theoretical lens: COM-B</vt:lpstr>
      <vt:lpstr>Exercise · Draw your variable and framework map</vt:lpstr>
      <vt:lpstr>Block 3: Searching and organising with Zotero</vt:lpstr>
      <vt:lpstr>Literature review in the AI age</vt:lpstr>
      <vt:lpstr>Build a search from concept blocks</vt:lpstr>
      <vt:lpstr>Keep a search log</vt:lpstr>
      <vt:lpstr>Zotero: your reference library</vt:lpstr>
      <vt:lpstr>Verify every record</vt:lpstr>
      <vt:lpstr>Exercise · Search and Zotero practicum</vt:lpstr>
      <vt:lpstr>Block 4: Source-grounded synthesis with NotebookLM</vt:lpstr>
      <vt:lpstr>What a source-grounded tool does</vt:lpstr>
      <vt:lpstr>From Zotero to NotebookLM</vt:lpstr>
      <vt:lpstr>Ask bounded questions</vt:lpstr>
      <vt:lpstr>Five checks for every AI-supported claim</vt:lpstr>
      <vt:lpstr>Literature matrix and annotated bibliography</vt:lpstr>
      <vt:lpstr>Exercise · Build and audit a literature mini-set</vt:lpstr>
      <vt:lpstr>Day 1 exit</vt:lpstr>
    </vt:vector>
  </TitlesOfParts>
  <Company>NexusHealth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1: From clinical question to evidence map</dc:title>
  <dc:creator>Adamu Onu</dc:creator>
  <dc:subject>PptxGenJS Presentation</dc:subject>
  <cp:lastModifiedBy>aonu</cp:lastModifiedBy>
  <cp:revision>2</cp:revision>
  <dcterms:created xsi:type="dcterms:W3CDTF">2026-10-28T13:19:31Z</dcterms:created>
  <dcterms:modified xsi:type="dcterms:W3CDTF">2026-10-28T13:19:31Z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