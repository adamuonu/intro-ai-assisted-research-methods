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2cc07e3-80c6-fa78-f3fc-93ca86ad8aa2}">
          <p14:sldIdLst>
            <p14:sldId id="256"/>
            <p14:sldId id="257"/>
          </p14:sldIdLst>
        </p14:section>
        <p14:section name="A reproducible workflow" id="{d832d5d3-cd9a-9510-4eb5-c7067efe16b5}">
          <p14:sldIdLst>
            <p14:sldId id="258"/>
            <p14:sldId id="259"/>
            <p14:sldId id="260"/>
            <p14:sldId id="261"/>
            <p14:sldId id="262"/>
          </p14:sldIdLst>
        </p14:section>
        <p14:section name="Tables, figures and the report" id="{67489e82-d641-7ee1-5444-fac0aea45506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tructured discussion" id="{fc0feed5-8256-1723-5166-97afea7717af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apstone and feedback" id="{c847cc78-f5f9-653a-fb54-d60d80cba68c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TITLE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NexusHealth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SECTION">
    <p:bg>
      <p:bgPr>
        <a:solidFill>
          <a:srgbClr val="002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NexusHealth · Introduction to AI-Assisted Research Methods and Data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-title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Day 4: Reproducible reporting, discussion and capstone</a:t>
            </a:r>
            <a:endParaRPr lang="en-US" sz="4000" dirty="0"/>
          </a:p>
        </p:txBody>
      </p:sp>
      <p:sp>
        <p:nvSpPr>
          <p:cNvPr id="3" name="deck-subtitle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From results to an auditable mini research report</a:t>
            </a:r>
            <a:endParaRPr lang="en-US" sz="2200" dirty="0"/>
          </a:p>
        </p:txBody>
      </p:sp>
      <p:sp>
        <p:nvSpPr>
          <p:cNvPr id="4" name="deck-byline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Introduction to AI-Assisted Research Methods and Data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Adamu Onu · NexusHealth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are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bring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2)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bivariate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regression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(Day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3)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Today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you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will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produce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716024"/>
            <a:ext cx="5340096" cy="262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regenerates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everything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structured,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calibrated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capstone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package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1: A reproducible workflow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reproducible means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Someone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else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regenerate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every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number,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table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and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figure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asking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anything.</a:t>
            </a:r>
            <a:endParaRPr lang="en-US" sz="2200" dirty="0"/>
          </a:p>
        </p:txBody>
      </p:sp>
      <p:graphicFrame>
        <p:nvGraphicFramePr>
          <p:cNvPr id="5" name="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1304"/>
          <a:ext cx="10149840" cy="914400"/>
        </p:xfrm>
        <a:graphic>
          <a:graphicData uri="http://schemas.openxmlformats.org/drawingml/2006/table">
            <a:tbl>
              <a:tblPr/>
              <a:tblGrid>
                <a:gridCol w="4172712"/>
                <a:gridCol w="5977128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Habit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Protects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against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Restart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Run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Hidden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cells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order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deleted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Relative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paths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course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folder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found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every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other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computer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Assertions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Silent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changes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updated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Outputs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written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by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Copy-paste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errors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Session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AI-use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records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knowing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which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versions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tools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Restart and Run All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Common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failures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defined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later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deleted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particular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order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created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forgot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absolute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C:/Users/me/Desktop/...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Fixes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716024"/>
            <a:ext cx="5340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bottom,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always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input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output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written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Paths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course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folder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Assertions: tests that stop the notebook</a:t>
            </a:r>
            <a:endParaRPr lang="en-US" sz="3000" dirty="0"/>
          </a:p>
        </p:txBody>
      </p:sp>
      <p:sp>
        <p:nvSpPr>
          <p:cNvPr id="3" name="code-bg-0"/>
          <p:cNvSpPr/>
          <p:nvPr/>
        </p:nvSpPr>
        <p:spPr>
          <a:xfrm>
            <a:off x="548640" y="1234440"/>
            <a:ext cx="11091672" cy="76809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ode-1"/>
          <p:cNvSpPr txBox="1"/>
          <p:nvPr/>
        </p:nvSpPr>
        <p:spPr>
          <a:xfrm>
            <a:off x="685800" y="1344168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df["patient_id"].is_unique, "Duplicate patients in the analysis set"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df[MODEL_VARS].notna().all().all(), "Missing values in model variables"</a:t>
            </a:r>
            <a:endParaRPr lang="en-US" sz="1800" dirty="0"/>
          </a:p>
        </p:txBody>
      </p:sp>
      <p:sp>
        <p:nvSpPr>
          <p:cNvPr id="5" name="code-bg-2"/>
          <p:cNvSpPr/>
          <p:nvPr/>
        </p:nvSpPr>
        <p:spPr>
          <a:xfrm>
            <a:off x="548640" y="2148840"/>
            <a:ext cx="11091672" cy="47853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code-3"/>
          <p:cNvSpPr txBox="1"/>
          <p:nvPr/>
        </p:nvSpPr>
        <p:spPr>
          <a:xfrm>
            <a:off x="685800" y="2258568"/>
            <a:ext cx="10817352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stopifnot("Duplicate patients in the analysis set" = !anyDuplicated(df$patient_id))</a:t>
            </a:r>
            <a:endParaRPr lang="en-US" sz="1700" dirty="0"/>
          </a:p>
        </p:txBody>
      </p:sp>
      <p:sp>
        <p:nvSpPr>
          <p:cNvPr id="7" name="text-4"/>
          <p:cNvSpPr txBox="1"/>
          <p:nvPr/>
        </p:nvSpPr>
        <p:spPr>
          <a:xfrm>
            <a:off x="548640" y="277368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arrives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duplicate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impossible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value,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Reproducibility audit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04,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50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Open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03.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Restart,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All.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fails.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Confirm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still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patients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same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Find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depends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something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outside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protected?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information.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dirty="0">
                <a:solidFill>
                  <a:schemeClr val="tx1"/>
                </a:solidFill>
              </a:rPr>
              <a:t>Update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451408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cleanly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fresh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start.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2: Tables, figures and the report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outputs, three jobs</a:t>
            </a:r>
            <a:endParaRPr lang="en-US" sz="3000" dirty="0"/>
          </a:p>
        </p:txBody>
      </p:sp>
      <p:graphicFrame>
        <p:nvGraphicFramePr>
          <p:cNvPr id="10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732264" cy="914400"/>
        </p:xfrm>
        <a:graphic>
          <a:graphicData uri="http://schemas.openxmlformats.org/drawingml/2006/table">
            <a:tbl>
              <a:tblPr/>
              <a:tblGrid>
                <a:gridCol w="959198"/>
                <a:gridCol w="2887999"/>
                <a:gridCol w="5885067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Output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Job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Contains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Describe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studied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overall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p-values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Answer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Crude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adjusted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estimates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95%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Figure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uncertainty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Estimate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readable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scale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confidence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band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94132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guideline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design: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STROBE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observational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studies,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CONSORT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trials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(equator-network.org).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Table 1 principles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(SD)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symmetric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variables,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median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(IQR)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skewed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(%)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categories.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units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denominator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column.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Footnote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missing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definitions.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No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p-values</a:t>
            </a:r>
            <a:r>
              <a:rPr lang="en-US" sz="2200" dirty="0">
                <a:solidFill>
                  <a:schemeClr val="tx1"/>
                </a:solidFill>
              </a:rPr>
              <a:t>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describes;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test.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328574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code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outputs/tables/table1.md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Table 2: answer the question</a:t>
            </a:r>
            <a:endParaRPr lang="en-US" sz="3000" dirty="0"/>
          </a:p>
        </p:txBody>
      </p:sp>
      <p:graphicFrame>
        <p:nvGraphicFramePr>
          <p:cNvPr id="12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206992" cy="914400"/>
        </p:xfrm>
        <a:graphic>
          <a:graphicData uri="http://schemas.openxmlformats.org/drawingml/2006/table">
            <a:tbl>
              <a:tblPr/>
              <a:tblGrid>
                <a:gridCol w="2152284"/>
                <a:gridCol w="1793570"/>
                <a:gridCol w="2630569"/>
                <a:gridCol w="2630569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Crude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(95%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CI)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Adjusted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(95%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CI)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Systolic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(mmHg)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-0.76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(-1.25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-0.27)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-1.01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(-1.49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-0.53)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Uncontrolled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ratio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(0.76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0.95)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0.81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(0.72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0.91)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2795016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10-point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higher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=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522;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age,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sex,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BMI,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diabetes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smoking.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61188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full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supplementary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main figure</a:t>
            </a:r>
            <a:endParaRPr lang="en-US" sz="3000" dirty="0"/>
          </a:p>
        </p:txBody>
      </p:sp>
      <p:pic>
        <p:nvPicPr>
          <p:cNvPr id="3" name="picture-0" descr="Line chart. For a reference patient, the predicted probability of uncontrolled blood pressure falls from about 87% at an adherence score of 20 to about 57% at 100, with a 95% confidence band that is widest at low adheren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026" y="1234440"/>
            <a:ext cx="6438900" cy="4160520"/>
          </a:xfrm>
          <a:prstGeom prst="rect">
            <a:avLst/>
          </a:prstGeom>
        </p:spPr>
      </p:pic>
      <p:sp>
        <p:nvSpPr>
          <p:cNvPr id="4" name="text-1"/>
          <p:cNvSpPr txBox="1"/>
          <p:nvPr/>
        </p:nvSpPr>
        <p:spPr>
          <a:xfrm>
            <a:off x="548640" y="554126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Readable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scale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(probability),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uncertainty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shown,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saved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300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dpi,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text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description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report that writes its own numbers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writes: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Markdown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outputs/tables/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outputs/figures/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key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reports/_variables.yml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6300216" y="1234440"/>
            <a:ext cx="534009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reports/mini_report.qmd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them:</a:t>
            </a:r>
            <a:endParaRPr lang="en-US" sz="2200" dirty="0"/>
          </a:p>
        </p:txBody>
      </p:sp>
      <p:sp>
        <p:nvSpPr>
          <p:cNvPr id="6" name="code-bg-3"/>
          <p:cNvSpPr/>
          <p:nvPr/>
        </p:nvSpPr>
        <p:spPr>
          <a:xfrm>
            <a:off x="6300216" y="2051304"/>
            <a:ext cx="5340096" cy="768096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code-4"/>
          <p:cNvSpPr txBox="1"/>
          <p:nvPr/>
        </p:nvSpPr>
        <p:spPr>
          <a:xfrm>
            <a:off x="6437376" y="2161032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adjusted odds ratio was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{{&lt; var log_adj &gt;}} per 10 points.</a:t>
            </a:r>
            <a:endParaRPr lang="en-US" sz="1800" dirty="0"/>
          </a:p>
        </p:txBody>
      </p:sp>
      <p:sp>
        <p:nvSpPr>
          <p:cNvPr id="8" name="text-5"/>
          <p:cNvSpPr txBox="1"/>
          <p:nvPr/>
        </p:nvSpPr>
        <p:spPr>
          <a:xfrm>
            <a:off x="6300216" y="2965704"/>
            <a:ext cx="5340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Quarto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renders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HTML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Word.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Change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rerun,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re-render: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updates.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Rewrite weak results prose</a:t>
            </a:r>
            <a:endParaRPr lang="en-US" sz="3000" dirty="0"/>
          </a:p>
        </p:txBody>
      </p:sp>
      <p:sp>
        <p:nvSpPr>
          <p:cNvPr id="3" name="box-quote-0"/>
          <p:cNvSpPr/>
          <p:nvPr/>
        </p:nvSpPr>
        <p:spPr>
          <a:xfrm>
            <a:off x="548640" y="1234440"/>
            <a:ext cx="11091672" cy="1335024"/>
          </a:xfrm>
          <a:prstGeom prst="roundRect">
            <a:avLst>
              <a:gd name="adj" fmla="val 5479"/>
            </a:avLst>
          </a:prstGeom>
          <a:solidFill>
            <a:srgbClr val="DEE6EF"/>
          </a:solidFill>
          <a:ln w="12700">
            <a:solidFill>
              <a:srgbClr val="DEE6EF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713232" y="1399032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“</a:t>
            </a:r>
            <a:r>
              <a:rPr lang="en-US" sz="2200" i="1" dirty="0">
                <a:solidFill>
                  <a:schemeClr val="tx1"/>
                </a:solidFill>
              </a:rPr>
              <a:t>Adherence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was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highly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significant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(p&lt;0.001)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for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blood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pressure,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proving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that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taking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medication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lowers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BP.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Patients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with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good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adherence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had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19%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less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uncontrolled</a:t>
            </a:r>
            <a:r>
              <a:rPr lang="en-US" sz="2200" i="1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BP.</a:t>
            </a:r>
            <a:r>
              <a:rPr lang="en-US" sz="2200" i="1" dirty="0">
                <a:solidFill>
                  <a:schemeClr val="tx1"/>
                </a:solidFill>
              </a:rPr>
              <a:t>”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71576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15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wrong,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2.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3532632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Hints: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effect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size?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CI?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words?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risk?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“</a:t>
            </a:r>
            <a:r>
              <a:rPr lang="en-US" sz="2200" dirty="0">
                <a:solidFill>
                  <a:schemeClr val="tx1"/>
                </a:solidFill>
              </a:rPr>
              <a:t>good</a:t>
            </a:r>
            <a:r>
              <a:rPr lang="en-US" sz="2200" dirty="0">
                <a:solidFill>
                  <a:schemeClr val="tx1"/>
                </a:solidFill>
              </a:rPr>
              <a:t>”</a:t>
            </a:r>
            <a:r>
              <a:rPr lang="en-US" sz="2200" dirty="0">
                <a:solidFill>
                  <a:schemeClr val="tx1"/>
                </a:solidFill>
              </a:rPr>
              <a:t>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Results pack practicum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Notebook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04,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Part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B.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pairs,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Refit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models.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Build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2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supplementary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Make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text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description.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render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mini_report.qmd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HTML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Word.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Open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HTML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matches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notebook.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343204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Done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when: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concise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paragraph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regenerated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3: Structured discussion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parts: D, L, F, A, R</a:t>
            </a:r>
            <a:endParaRPr lang="en-US" sz="3000" dirty="0"/>
          </a:p>
        </p:txBody>
      </p:sp>
      <p:graphicFrame>
        <p:nvGraphicFramePr>
          <p:cNvPr id="18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24616" cy="914400"/>
        </p:xfrm>
        <a:graphic>
          <a:graphicData uri="http://schemas.openxmlformats.org/drawingml/2006/table">
            <a:tbl>
              <a:tblPr/>
              <a:tblGrid>
                <a:gridCol w="918718"/>
                <a:gridCol w="3215513"/>
                <a:gridCol w="6890385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Label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find,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estimate?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compare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might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differ?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framework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suggest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means?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Alternatives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Confounding,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selection,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measurement,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data: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direction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Recommendation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should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practice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study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given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strength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evidence?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69696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Draft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discussion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first,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prose.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Linking back to Day 1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Literature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(L)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534009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rows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from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Compare: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532888"/>
            <a:ext cx="5340096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population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setting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measured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adjustment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size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estimate,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just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direction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6300216" y="1234440"/>
            <a:ext cx="5340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Framework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(F)</a:t>
            </a:r>
            <a:endParaRPr lang="en-US" sz="2200" dirty="0"/>
          </a:p>
        </p:txBody>
      </p:sp>
      <p:sp>
        <p:nvSpPr>
          <p:cNvPr id="7" name="text-4"/>
          <p:cNvSpPr txBox="1"/>
          <p:nvPr/>
        </p:nvSpPr>
        <p:spPr>
          <a:xfrm>
            <a:off x="6300216" y="1716024"/>
            <a:ext cx="53400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COM-B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example: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adherence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score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behaviour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measure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capability,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opportunity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motivation,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discuss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possible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explanations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but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mechanisms.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with direction</a:t>
            </a:r>
            <a:endParaRPr lang="en-US" sz="3000" dirty="0"/>
          </a:p>
        </p:txBody>
      </p:sp>
      <p:graphicFrame>
        <p:nvGraphicFramePr>
          <p:cNvPr id="20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488510"/>
                <a:gridCol w="4382999"/>
                <a:gridCol w="3220163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Likely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would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help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Cross-sectional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Cannot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separate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cause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reverse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causation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Cohort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first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Self-reported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Overstatement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would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likely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weaken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association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Pharmacy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refill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Single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reading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error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widens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CIs;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regression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Repeated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ambulatory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Unmeasured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confounding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(income,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access)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Direction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uncertain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them;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Complete-case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(18%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excluded)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precision;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MNAR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Multiple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imputation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940808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good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limitation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names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problem</a:t>
            </a:r>
            <a:r>
              <a:rPr lang="en-US" sz="2200" dirty="0">
                <a:solidFill>
                  <a:schemeClr val="tx1"/>
                </a:solidFill>
              </a:rPr>
              <a:t>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likely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direction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fix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Calibrate your language</a:t>
            </a:r>
            <a:endParaRPr lang="en-US" sz="3000" dirty="0"/>
          </a:p>
        </p:txBody>
      </p:sp>
      <p:graphicFrame>
        <p:nvGraphicFramePr>
          <p:cNvPr id="21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103616" cy="914400"/>
        </p:xfrm>
        <a:graphic>
          <a:graphicData uri="http://schemas.openxmlformats.org/drawingml/2006/table">
            <a:tbl>
              <a:tblPr/>
              <a:tblGrid>
                <a:gridCol w="2282709"/>
                <a:gridCol w="5820907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Overclaims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Calibrated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reduces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associated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lower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Proves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confirms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consistent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supports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effect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smoking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clear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association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wide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19%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lower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19%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lower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odds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predicted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78%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62%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claim and evidence audit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factual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sentence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record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evidence:</a:t>
            </a:r>
            <a:endParaRPr lang="en-US" sz="2200" dirty="0"/>
          </a:p>
        </p:txBody>
      </p:sp>
      <p:graphicFrame>
        <p:nvGraphicFramePr>
          <p:cNvPr id="22" name="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6024"/>
          <a:ext cx="8870696" cy="914400"/>
        </p:xfrm>
        <a:graphic>
          <a:graphicData uri="http://schemas.openxmlformats.org/drawingml/2006/table">
            <a:tbl>
              <a:tblPr/>
              <a:tblGrid>
                <a:gridCol w="3851750"/>
                <a:gridCol w="3151431"/>
                <a:gridCol w="1867515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Claim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Adjusted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(0.72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0.91)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Notebook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04,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Similar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[study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X]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Matrix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p. 5,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Verified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Adherence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improves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reminders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found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Delete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soften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"/>
          <p:cNvSpPr txBox="1"/>
          <p:nvPr/>
        </p:nvSpPr>
        <p:spPr>
          <a:xfrm>
            <a:off x="548640" y="3666744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critique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wording.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supply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references,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have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Exercise · </a:t>
            </a:r>
            <a:r>
              <a:rPr lang="en-US" sz="3000" b="1" dirty="0">
                <a:solidFill>
                  <a:schemeClr val="tx2"/>
                </a:solidFill>
              </a:rPr>
              <a:t>Discussion matrix and claim audit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In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teams,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60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cell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chemeClr val="tx1"/>
                </a:solidFill>
              </a:rPr>
              <a:t>Write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labelled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paragraphs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(D/L/F/A/R).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evidence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audit.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marked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i="1" dirty="0">
                <a:solidFill>
                  <a:schemeClr val="tx1"/>
                </a:solidFill>
              </a:rPr>
              <a:t>none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dirty="0">
                <a:solidFill>
                  <a:schemeClr val="tx1"/>
                </a:solidFill>
              </a:rPr>
              <a:t>Swap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another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paragraph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Block 4: Capstone and feedback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2B5C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capstone brief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teams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of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three,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synthetic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(or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approved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equivalent),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submit: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318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question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hypotheses,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framework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map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literature-matrix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entries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annotated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bibliography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entry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cleaning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decisions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analysis-set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flow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results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figure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D/L/F/A/R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verification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disclosure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files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needed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regenerate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outputs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Capstone rubric</a:t>
            </a:r>
            <a:endParaRPr lang="en-US" sz="3000" dirty="0"/>
          </a:p>
        </p:txBody>
      </p:sp>
      <p:graphicFrame>
        <p:nvGraphicFramePr>
          <p:cNvPr id="26" name="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0809224" cy="914400"/>
        </p:xfrm>
        <a:graphic>
          <a:graphicData uri="http://schemas.openxmlformats.org/drawingml/2006/table">
            <a:tbl>
              <a:tblPr/>
              <a:tblGrid>
                <a:gridCol w="2982891"/>
                <a:gridCol w="959198"/>
                <a:gridCol w="6867134"/>
              </a:tblGrid>
              <a:tr h="3901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Full-credit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66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Question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Focused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question,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matched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hypotheses,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coherent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map,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explicit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inference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boundary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Literature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Traceable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search,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accurate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source-to-claim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links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Documented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cleaning,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suitable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models,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diagnostics,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missing-data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decision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Results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discussion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Accurate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estimates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clear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figure,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proportionate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Reproducibility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succeeds,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outputs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regenerate,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disclosure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verification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record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B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"/>
          <p:cNvSpPr txBox="1"/>
          <p:nvPr/>
        </p:nvSpPr>
        <p:spPr>
          <a:xfrm>
            <a:off x="548640" y="4940808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90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100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exemplary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75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89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secure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60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74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developing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·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below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60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incomplete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Peer review protocol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15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minutes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per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team,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using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the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rubric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1716024"/>
            <a:ext cx="11091672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chemeClr val="tx1"/>
                </a:solidFill>
              </a:rPr>
              <a:t>Run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other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team’s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finish?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0" b="1" dirty="0">
                <a:solidFill>
                  <a:schemeClr val="tx1"/>
                </a:solidFill>
              </a:rPr>
              <a:t>Trace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pick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two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their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each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produced?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0" b="1" dirty="0">
                <a:solidFill>
                  <a:schemeClr val="tx1"/>
                </a:solidFill>
              </a:rPr>
              <a:t>Check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pick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claim.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Does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matrix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passage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support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it?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200" b="1" dirty="0">
                <a:solidFill>
                  <a:schemeClr val="tx1"/>
                </a:solidFill>
              </a:rPr>
              <a:t>Read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it: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discussion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calibrated?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causal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odds/risk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slips?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200" b="1" dirty="0">
                <a:solidFill>
                  <a:schemeClr val="tx1"/>
                </a:solidFill>
              </a:rPr>
              <a:t>Feed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back: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strength,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fix,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one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Handover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Notebook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04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that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package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writes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002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outputs/handover_manifest.csv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2051304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submit: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532888"/>
            <a:ext cx="11091672" cy="2026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☐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Restart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Run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All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succeeds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☐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report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renders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number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matches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☐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Every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literature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claim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links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verified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source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☐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AI-use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☐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identifiable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confidential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anywhere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package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next</a:t>
            </a:r>
            <a:endParaRPr lang="en-US" sz="3000" dirty="0"/>
          </a:p>
        </p:txBody>
      </p:sp>
      <p:sp>
        <p:nvSpPr>
          <p:cNvPr id="3" name="text-0"/>
          <p:cNvSpPr txBox="1"/>
          <p:nvPr/>
        </p:nvSpPr>
        <p:spPr>
          <a:xfrm>
            <a:off x="548640" y="1234440"/>
            <a:ext cx="11091672" cy="336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Learn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multiple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imputation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using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complete-case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study.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Learn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directed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acyclic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graphs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(DAGs)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choose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adjustment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sets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more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formally.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Read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STROBE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checklist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next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observational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statistician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review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analysis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plan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before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collect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extract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data.</a:t>
            </a:r>
            <a:endParaRPr lang="en-US" sz="2200" dirty="0"/>
          </a:p>
          <a:p>
            <a:pPr marL="292608" indent="-292608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Keep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practising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with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your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own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question: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the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notebooks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are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templates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can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adapt.</a:t>
            </a:r>
            <a:endParaRPr lang="en-US" sz="22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4703064"/>
            <a:ext cx="11091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Thank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>you.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D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xusHealth">
      <a:dk1>
        <a:srgbClr val="1D1D1F"/>
      </a:dk1>
      <a:lt1>
        <a:srgbClr val="FFFFFF"/>
      </a:lt1>
      <a:dk2>
        <a:srgbClr val="002366"/>
      </a:dk2>
      <a:lt2>
        <a:srgbClr val="DEE6EF"/>
      </a:lt2>
      <a:accent1>
        <a:srgbClr val="002366"/>
      </a:accent1>
      <a:accent2>
        <a:srgbClr val="A2B5CD"/>
      </a:accent2>
      <a:accent3>
        <a:srgbClr val="4A5D7E"/>
      </a:accent3>
      <a:accent4>
        <a:srgbClr val="B35C00"/>
      </a:accent4>
      <a:accent5>
        <a:srgbClr val="6B8BB8"/>
      </a:accent5>
      <a:accent6>
        <a:srgbClr val="2E7D5B"/>
      </a:accent6>
      <a:hlink>
        <a:srgbClr val="002366"/>
      </a:hlink>
      <a:folHlink>
        <a:srgbClr val="4A5D7E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NexusHealth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4: Reproducible reporting, discussion and capstone</dc:title>
  <dc:subject>PptxGenJS Presentation</dc:subject>
  <dc:creator>Adamu Onu</dc:creator>
  <cp:lastModifiedBy>Adamu Onu</cp:lastModifiedBy>
  <cp:revision>1</cp:revision>
  <dcterms:created xsi:type="dcterms:W3CDTF">2026-10-28T10:00:19Z</dcterms:created>
  <dcterms:modified xsi:type="dcterms:W3CDTF">2026-10-28T10:00:19Z</dcterms:modified>
</cp:coreProperties>
</file>