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a20736f-295c-2347-cc13-60ca473f5d23}">
          <p14:sldIdLst>
            <p14:sldId id="256"/>
            <p14:sldId id="257"/>
          </p14:sldIdLst>
        </p14:section>
        <p14:section name="Notebooks, data formats and AI coding assistants" id="{6260ba81-0b0c-561e-807c-38d84b586ab2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Data cleaning" id="{4964878c-e610-5944-c320-e519ed1f0b0c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Missing data" id="{9507982e-8a11-f6d6-d514-56689a681eaa}">
          <p14:sldIdLst>
            <p14:sldId id="277"/>
            <p14:sldId id="278"/>
            <p14:sldId id="279"/>
            <p14:sldId id="280"/>
            <p14:sldId id="281"/>
          </p14:sldIdLst>
        </p14:section>
        <p14:section name="Univariate exploratory analysis" id="{0dc783ec-1c01-e73d-aed7-e1344f20ed82}">
          <p14:sldIdLst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H_TITLE">
    <p:bg>
      <p:bgPr>
        <a:solidFill>
          <a:srgbClr val="002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NexusHealth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H_SECTION">
    <p:bg>
      <p:bgPr>
        <a:solidFill>
          <a:srgbClr val="002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NexusHealth · Introduction to AI-Assisted Research Methods and Data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H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NexusHealth · Introduction to AI-Assisted Research Methods and Data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-title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Day 2: From raw export to analysis-ready data</a:t>
            </a:r>
            <a:endParaRPr lang="en-US" sz="4000" dirty="0"/>
          </a:p>
        </p:txBody>
      </p:sp>
      <p:sp>
        <p:nvSpPr>
          <p:cNvPr id="3" name="deck-subtitle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Data formats, AI-assisted coding, cleaning, missing data and univariate description</a:t>
            </a:r>
            <a:endParaRPr lang="en-US" sz="2200" dirty="0"/>
          </a:p>
        </p:txBody>
      </p:sp>
      <p:sp>
        <p:nvSpPr>
          <p:cNvPr id="4" name="deck-byline"/>
          <p:cNvSpPr txBox="1"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Introduction to AI-Assisted Research Methods and Data Analysis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Adamu Onu · NexusHealth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we are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Yesterday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you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produced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5340096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hypotheses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variable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map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verified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literature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mini-set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6300216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Today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you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will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produce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6300216" y="1716024"/>
            <a:ext cx="5340096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clean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dataset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cleaning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documented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set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univariate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evidence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pack</a:t>
            </a:r>
            <a:endParaRPr lang="en-US" sz="2200" dirty="0"/>
          </a:p>
        </p:txBody>
      </p:sp>
      <p:sp>
        <p:nvSpPr>
          <p:cNvPr id="7" name="box-light-4"/>
          <p:cNvSpPr/>
          <p:nvPr/>
        </p:nvSpPr>
        <p:spPr>
          <a:xfrm>
            <a:off x="548640" y="3020568"/>
            <a:ext cx="11091672" cy="999744"/>
          </a:xfrm>
          <a:prstGeom prst="roundRect">
            <a:avLst>
              <a:gd name="adj" fmla="val 7317"/>
            </a:avLst>
          </a:prstGeom>
          <a:solidFill>
            <a:srgbClr val="DEE6EF"/>
          </a:solidFill>
          <a:ln w="12700">
            <a:solidFill>
              <a:srgbClr val="DEE6EF"/>
            </a:solidFill>
            <a:prstDash val="solid"/>
          </a:ln>
        </p:spPr>
      </p:sp>
      <p:sp>
        <p:nvSpPr>
          <p:cNvPr id="8" name="text-5"/>
          <p:cNvSpPr txBox="1"/>
          <p:nvPr/>
        </p:nvSpPr>
        <p:spPr>
          <a:xfrm>
            <a:off x="713232" y="3185160"/>
            <a:ext cx="10762488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Today’s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rule: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you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should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able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defend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every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row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and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every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variable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1: Notebooks, data formats and AI coding assistants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Your tools</a:t>
            </a:r>
            <a:endParaRPr lang="en-US" sz="3000" dirty="0"/>
          </a:p>
        </p:txBody>
      </p:sp>
      <p:graphicFrame>
        <p:nvGraphicFramePr>
          <p:cNvPr id="5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9288272" cy="914400"/>
        </p:xfrm>
        <a:graphic>
          <a:graphicData uri="http://schemas.openxmlformats.org/drawingml/2006/table">
            <a:tbl>
              <a:tblPr/>
              <a:tblGrid>
                <a:gridCol w="2831790"/>
                <a:gridCol w="6456482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Tool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What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does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editor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where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you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course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folder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notebooks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Jupyter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notebook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.ipynb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document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mixing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text,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results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Kernel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engine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runs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Python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GitHub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Copilot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assistant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inside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Quarto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Turns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your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results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report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(Day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965448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Open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the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whole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course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folder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(File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&gt;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Open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Folder),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single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file,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paths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work.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4782312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install?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Google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Colab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Python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browser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Gemini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built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Anatomy of a notebook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Markdown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cells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hold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text.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Code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cells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hold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instructions.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Shift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+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Enter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cell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moves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next.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appears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under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cell.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Numbers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square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brackets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show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run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order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Restart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clears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memory.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Run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bottom.</a:t>
            </a:r>
            <a:endParaRPr lang="en-US" sz="2200" dirty="0"/>
          </a:p>
        </p:txBody>
      </p:sp>
      <p:sp>
        <p:nvSpPr>
          <p:cNvPr id="4" name="box-warn-1"/>
          <p:cNvSpPr/>
          <p:nvPr/>
        </p:nvSpPr>
        <p:spPr>
          <a:xfrm>
            <a:off x="548640" y="3285744"/>
            <a:ext cx="11091672" cy="999744"/>
          </a:xfrm>
          <a:prstGeom prst="roundRect">
            <a:avLst>
              <a:gd name="adj" fmla="val 7317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5" name="text-2"/>
          <p:cNvSpPr txBox="1"/>
          <p:nvPr/>
        </p:nvSpPr>
        <p:spPr>
          <a:xfrm>
            <a:off x="713232" y="3450336"/>
            <a:ext cx="10762488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Running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cells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order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common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source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confusion.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doubt: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Restart,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All.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548640" y="4431792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Predict,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run,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inspect.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Before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cell,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expect.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After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runs,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come in many formats</a:t>
            </a:r>
            <a:endParaRPr lang="en-US" sz="3000" dirty="0"/>
          </a:p>
        </p:txBody>
      </p:sp>
      <p:graphicFrame>
        <p:nvGraphicFramePr>
          <p:cNvPr id="7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1399920"/>
                <a:gridCol w="3445956"/>
                <a:gridCol w="6245796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Format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Typical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Watch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for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CSV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Exports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from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almost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anything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stored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types;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several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missing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Hand-entered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audit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Title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rows,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merged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cells,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several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sheets,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numbers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SPSS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Stata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Survey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epidemiology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datasets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Numbers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labels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Female)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REDCap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export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Research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databases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values;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meaning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separate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codebook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4062984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Keep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the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raw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file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untouched.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clean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copy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code,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clean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version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under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name.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Tidy data, wide and long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5340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Tidy: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observation,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column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variable,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value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cell.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2386584"/>
            <a:ext cx="5340096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Long: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measurement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plotting.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203448"/>
            <a:ext cx="5340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Wide: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patient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column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repeat.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Common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spreadsheets.</a:t>
            </a:r>
            <a:endParaRPr lang="en-US" sz="2200" dirty="0"/>
          </a:p>
        </p:txBody>
      </p:sp>
      <p:sp>
        <p:nvSpPr>
          <p:cNvPr id="6" name="code-bg-3"/>
          <p:cNvSpPr/>
          <p:nvPr/>
        </p:nvSpPr>
        <p:spPr>
          <a:xfrm>
            <a:off x="6300216" y="1234440"/>
            <a:ext cx="5340096" cy="1210056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code-4"/>
          <p:cNvSpPr txBox="1"/>
          <p:nvPr/>
        </p:nvSpPr>
        <p:spPr>
          <a:xfrm>
            <a:off x="6437376" y="1344168"/>
            <a:ext cx="5065776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                   Wide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reading  sbp      id     sbp_1 sbp_2 sbp_3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PC0001 1        142      PC0001 142   138   140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PC0001 2        138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PC0001 3        140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data dictionary</a:t>
            </a:r>
            <a:endParaRPr lang="en-US" sz="3000" dirty="0"/>
          </a:p>
        </p:txBody>
      </p:sp>
      <p:graphicFrame>
        <p:nvGraphicFramePr>
          <p:cNvPr id="9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668512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1018560"/>
                <a:gridCol w="1557051"/>
                <a:gridCol w="3288741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valid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range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notes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years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outside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range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becomes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missing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systolic_bp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260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mmHg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single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teaching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measurement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medication_adherence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exposure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uncontrolled_bp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derived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SBP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DBP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4062984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Read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before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analysing.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contains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safest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share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statistician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assistant.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AI assist · </a:t>
            </a:r>
            <a:r>
              <a:rPr lang="en-US" sz="3000" b="1" dirty="0">
                <a:solidFill>
                  <a:schemeClr val="tx2"/>
                </a:solidFill>
              </a:rPr>
              <a:t>Working with GitHub Copilot</a:t>
            </a:r>
            <a:endParaRPr lang="en-US" sz="3000" dirty="0"/>
          </a:p>
        </p:txBody>
      </p:sp>
      <p:graphicFrame>
        <p:nvGraphicFramePr>
          <p:cNvPr id="10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24616" cy="914400"/>
        </p:xfrm>
        <a:graphic>
          <a:graphicData uri="http://schemas.openxmlformats.org/drawingml/2006/table">
            <a:tbl>
              <a:tblPr/>
              <a:tblGrid>
                <a:gridCol w="2067116"/>
                <a:gridCol w="4938109"/>
                <a:gridCol w="4019391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How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Use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Inline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suggestions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comment,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pause,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press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Tab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accept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Write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routine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quickly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Copilot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Chat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panel,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plain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language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Plan,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draft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debug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Explain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right-click,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Copilot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Explain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Understand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line,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including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ours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18516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Copilot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plan;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students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teachers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apply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through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GitHub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Education.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Already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for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another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assistant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(Gemini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Code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Assist,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Claude,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ChatGPT,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Cursor)?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method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same.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AI assist · </a:t>
            </a:r>
            <a:r>
              <a:rPr lang="en-US" sz="3000" b="1" dirty="0">
                <a:solidFill>
                  <a:schemeClr val="tx2"/>
                </a:solidFill>
              </a:rPr>
              <a:t>A five-part prompt</a:t>
            </a:r>
            <a:endParaRPr lang="en-US" sz="3000" dirty="0"/>
          </a:p>
        </p:txBody>
      </p:sp>
      <p:graphicFrame>
        <p:nvGraphicFramePr>
          <p:cNvPr id="11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103616" cy="914400"/>
        </p:xfrm>
        <a:graphic>
          <a:graphicData uri="http://schemas.openxmlformats.org/drawingml/2006/table">
            <a:tbl>
              <a:tblPr/>
              <a:tblGrid>
                <a:gridCol w="1575650"/>
                <a:gridCol w="6527966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Part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Goal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visits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clinic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frame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raw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from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primary_care_raw.csv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clinic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Constraints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Python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pandas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tidyverse);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short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commented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percentages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Check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Tell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how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confirm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965448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Describe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structure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(names,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types,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units).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Never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paste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real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patient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values.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AI assist · </a:t>
            </a:r>
            <a:r>
              <a:rPr lang="en-US" sz="3000" b="1" dirty="0">
                <a:solidFill>
                  <a:schemeClr val="tx2"/>
                </a:solidFill>
              </a:rPr>
              <a:t>Code that runs is not code that is right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assistant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wrote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“</a:t>
            </a:r>
            <a:r>
              <a:rPr lang="en-US" sz="2200" i="1" dirty="0">
                <a:solidFill>
                  <a:schemeClr val="tx1"/>
                </a:solidFill>
              </a:rPr>
              <a:t>average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systolic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BP</a:t>
            </a:r>
            <a:r>
              <a:rPr lang="en-US" sz="2200" i="1" dirty="0">
                <a:solidFill>
                  <a:schemeClr val="tx1"/>
                </a:solidFill>
              </a:rPr>
              <a:t>”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without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error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printed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146.6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mmHg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code-bg-1"/>
          <p:cNvSpPr/>
          <p:nvPr/>
        </p:nvSpPr>
        <p:spPr>
          <a:xfrm>
            <a:off x="548640" y="2051304"/>
            <a:ext cx="11091672" cy="768096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code-2"/>
          <p:cNvSpPr txBox="1"/>
          <p:nvPr/>
        </p:nvSpPr>
        <p:spPr>
          <a:xfrm>
            <a:off x="685800" y="216103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sbp = pd.to_numeric(raw["systolic_bp"], errors="coerce")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sbp.mean()</a:t>
            </a:r>
            <a:endParaRPr lang="en-US" sz="1800" dirty="0"/>
          </a:p>
        </p:txBody>
      </p:sp>
      <p:graphicFrame>
        <p:nvGraphicFramePr>
          <p:cNvPr id="12" name="table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65704"/>
          <a:ext cx="7764170" cy="914400"/>
        </p:xfrm>
        <a:graphic>
          <a:graphicData uri="http://schemas.openxmlformats.org/drawingml/2006/table">
            <a:tbl>
              <a:tblPr/>
              <a:tblGrid>
                <a:gridCol w="1863401"/>
                <a:gridCol w="5900770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What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found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Denominator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unreadable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entries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silently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dropped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Plausibility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Four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999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included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Duplicates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repeated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patient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IDs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twice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After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fixing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mmHg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Keep an AI-use log</a:t>
            </a:r>
            <a:endParaRPr lang="en-US" sz="3000" dirty="0"/>
          </a:p>
        </p:txBody>
      </p:sp>
      <p:graphicFrame>
        <p:nvGraphicFramePr>
          <p:cNvPr id="13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845080"/>
                <a:gridCol w="1267620"/>
                <a:gridCol w="1373255"/>
                <a:gridCol w="1267620"/>
                <a:gridCol w="3169049"/>
                <a:gridCol w="3169049"/>
              </a:tblGrid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Tool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What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used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How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verified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What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changed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Nov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Copilot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Chat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Summarise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SBP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Summary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Checked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min/max,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duplicates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Waited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until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cleaned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2648712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meaningful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use.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capstone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includes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summary.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01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creates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outputs/logs/ai_use_log.csv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Notebooks 00 and 01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50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Rotate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types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explains.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00: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select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kernel,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All,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complete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Exercise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0.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01,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Excel,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SPSS,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REDCap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files.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Complete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Exercise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1A.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01,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five-part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prompt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Copilot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Chat.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Complete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Exercise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1B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(audit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code).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chemeClr val="tx1"/>
                </a:solidFill>
              </a:rPr>
              <a:t>Add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AI-use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4102608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Done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when: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both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AI’s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average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wrong.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2: Data cleaning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Five verbs of cleaning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480608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chemeClr val="tx1"/>
                </a:solidFill>
              </a:rPr>
              <a:t>Audit: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look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before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change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b="1" dirty="0">
                <a:solidFill>
                  <a:schemeClr val="tx1"/>
                </a:solidFill>
              </a:rPr>
              <a:t>Standardise: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spelling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category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b="1" dirty="0">
                <a:solidFill>
                  <a:schemeClr val="tx1"/>
                </a:solidFill>
              </a:rPr>
              <a:t>Validate: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apply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valid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ranges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b="1" dirty="0">
                <a:solidFill>
                  <a:schemeClr val="tx1"/>
                </a:solidFill>
              </a:rPr>
              <a:t>Deduplicate: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200" b="1" dirty="0">
                <a:solidFill>
                  <a:schemeClr val="tx1"/>
                </a:solidFill>
              </a:rPr>
              <a:t>Derive: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build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variables</a:t>
            </a:r>
            <a:endParaRPr lang="en-US" sz="2200" dirty="0"/>
          </a:p>
        </p:txBody>
      </p:sp>
      <p:sp>
        <p:nvSpPr>
          <p:cNvPr id="4" name="box-light-1"/>
          <p:cNvSpPr/>
          <p:nvPr/>
        </p:nvSpPr>
        <p:spPr>
          <a:xfrm>
            <a:off x="5766206" y="1234440"/>
            <a:ext cx="5874106" cy="2974848"/>
          </a:xfrm>
          <a:prstGeom prst="roundRect">
            <a:avLst>
              <a:gd name="adj" fmla="val 2459"/>
            </a:avLst>
          </a:prstGeom>
          <a:solidFill>
            <a:srgbClr val="DEE6EF"/>
          </a:solidFill>
          <a:ln w="12700">
            <a:solidFill>
              <a:srgbClr val="DEE6EF"/>
            </a:solidFill>
            <a:prstDash val="solid"/>
          </a:ln>
        </p:spPr>
      </p:sp>
      <p:sp>
        <p:nvSpPr>
          <p:cNvPr id="5" name="text-2"/>
          <p:cNvSpPr txBox="1"/>
          <p:nvPr/>
        </p:nvSpPr>
        <p:spPr>
          <a:xfrm>
            <a:off x="5930798" y="1399032"/>
            <a:ext cx="55449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5930798" y="1880616"/>
            <a:ext cx="5544922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written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code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re-run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recorded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cleaning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log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judged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protected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assertion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quietly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break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audit found</a:t>
            </a:r>
            <a:endParaRPr lang="en-US" sz="3000" dirty="0"/>
          </a:p>
        </p:txBody>
      </p:sp>
      <p:graphicFrame>
        <p:nvGraphicFramePr>
          <p:cNvPr id="17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9301480" cy="914400"/>
        </p:xfrm>
        <a:graphic>
          <a:graphicData uri="http://schemas.openxmlformats.org/drawingml/2006/table">
            <a:tbl>
              <a:tblPr/>
              <a:tblGrid>
                <a:gridCol w="2674176"/>
                <a:gridCol w="5348351"/>
                <a:gridCol w="1278954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Problem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Count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Missing-value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codes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blank,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N/A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Unknown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195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Inconsistent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categories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 North '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NEVER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Mixed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formats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2026-04-17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30/04/2026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Apr 06, 2026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160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non-ISO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Impossible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999,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BMI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-1,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SBP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999,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DBP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Duplicates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identical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rows;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repeated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IDs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rows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965448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found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because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column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text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first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Dates: check, do not assume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02/04/2026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2nd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April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4th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February?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63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slash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first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number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above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12.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None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second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number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above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12.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slash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day/month/year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944368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Parse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format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explicitly,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assert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nothing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left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unparsed.</a:t>
            </a:r>
            <a:endParaRPr lang="en-US" sz="2200" dirty="0"/>
          </a:p>
        </p:txBody>
      </p:sp>
      <p:sp>
        <p:nvSpPr>
          <p:cNvPr id="6" name="box-warn-3"/>
          <p:cNvSpPr/>
          <p:nvPr/>
        </p:nvSpPr>
        <p:spPr>
          <a:xfrm>
            <a:off x="548640" y="3425952"/>
            <a:ext cx="11091672" cy="999744"/>
          </a:xfrm>
          <a:prstGeom prst="roundRect">
            <a:avLst>
              <a:gd name="adj" fmla="val 7317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7" name="text-4"/>
          <p:cNvSpPr txBox="1"/>
          <p:nvPr/>
        </p:nvSpPr>
        <p:spPr>
          <a:xfrm>
            <a:off x="713232" y="3590544"/>
            <a:ext cx="10762488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Software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“</a:t>
            </a:r>
            <a:r>
              <a:rPr lang="en-US" sz="2200" dirty="0">
                <a:solidFill>
                  <a:schemeClr val="tx1"/>
                </a:solidFill>
              </a:rPr>
              <a:t>guesses</a:t>
            </a:r>
            <a:r>
              <a:rPr lang="en-US" sz="2200" dirty="0">
                <a:solidFill>
                  <a:schemeClr val="tx1"/>
                </a:solidFill>
              </a:rPr>
              <a:t>”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formats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silently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swap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month.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error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show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until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follow-up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interval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negative.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Ranges and duplicates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Ranges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dictionary.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Values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outside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become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missing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deleted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“</a:t>
            </a:r>
            <a:r>
              <a:rPr lang="en-US" sz="2200" dirty="0">
                <a:solidFill>
                  <a:schemeClr val="tx1"/>
                </a:solidFill>
              </a:rPr>
              <a:t>corrected</a:t>
            </a:r>
            <a:r>
              <a:rPr lang="en-US" sz="2200" dirty="0">
                <a:solidFill>
                  <a:schemeClr val="tx1"/>
                </a:solidFill>
              </a:rPr>
              <a:t>”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stays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dataset.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2051304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Duplicate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rule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written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down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before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looking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which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records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removes: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532888"/>
            <a:ext cx="11091672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Remove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rows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identical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column.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record,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keep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earliest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visit.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548640" y="3425952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Result: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653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rows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become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640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unique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patients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Deriving the outcome</a:t>
            </a:r>
            <a:endParaRPr lang="en-US" sz="3000" dirty="0"/>
          </a:p>
        </p:txBody>
      </p:sp>
      <p:sp>
        <p:nvSpPr>
          <p:cNvPr id="3" name="code-bg-0"/>
          <p:cNvSpPr/>
          <p:nvPr/>
        </p:nvSpPr>
        <p:spPr>
          <a:xfrm>
            <a:off x="548640" y="1234440"/>
            <a:ext cx="11091672" cy="1042416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code-1"/>
          <p:cNvSpPr txBox="1"/>
          <p:nvPr/>
        </p:nvSpPr>
        <p:spPr>
          <a:xfrm>
            <a:off x="685800" y="1344168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uncontrolled_bp = 1   if SBP ≥ 140  OR  DBP ≥ 90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= 0   if both are known and below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= missing otherwise</a:t>
            </a:r>
            <a:endParaRPr lang="en-US" sz="18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423160"/>
            <a:ext cx="11091672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150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missing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still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uncontrolled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130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missing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unknown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adherence_10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=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/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10,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10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percentage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points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cleaning log</a:t>
            </a:r>
            <a:endParaRPr lang="en-US" sz="3000" dirty="0"/>
          </a:p>
        </p:txBody>
      </p:sp>
      <p:graphicFrame>
        <p:nvGraphicFramePr>
          <p:cNvPr id="21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224520" cy="914400"/>
        </p:xfrm>
        <a:graphic>
          <a:graphicData uri="http://schemas.openxmlformats.org/drawingml/2006/table">
            <a:tbl>
              <a:tblPr/>
              <a:tblGrid>
                <a:gridCol w="939945"/>
                <a:gridCol w="5287191"/>
                <a:gridCol w="1997383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Affected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Recode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blank,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N/A,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Unknown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missing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195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Standardise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clinic,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sex,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smoking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90,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91,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Parse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three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formats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160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Out-of-range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missing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Remove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exact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duplicates;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keep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earliest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record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rows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Derive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uncontrolled_bp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23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adherence_10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Audit and defend a cleaning rule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02,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A.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60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2621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audit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cells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summarise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problems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own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words.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b="1" dirty="0">
                <a:solidFill>
                  <a:schemeClr val="tx1"/>
                </a:solidFill>
              </a:rPr>
              <a:t>Exercise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2A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1: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standardise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smoking_status</a:t>
            </a:r>
            <a:r>
              <a:rPr lang="en-US" sz="2200" dirty="0">
                <a:solidFill>
                  <a:schemeClr val="tx1"/>
                </a:solidFill>
              </a:rPr>
              <a:t>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exactly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categories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remain.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Work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through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ranges,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duplicates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derived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variables.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b="1" dirty="0">
                <a:solidFill>
                  <a:schemeClr val="tx1"/>
                </a:solidFill>
              </a:rPr>
              <a:t>Exercise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2A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2: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pick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four-sentence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entry: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saw,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rule,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many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values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affected,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could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wrong.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4437888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Done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when: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primary_care_clean.csv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saved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assertions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pass.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3: Missing data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Why data are missing matters</a:t>
            </a:r>
            <a:endParaRPr lang="en-US" sz="3000" dirty="0"/>
          </a:p>
        </p:txBody>
      </p:sp>
      <p:graphicFrame>
        <p:nvGraphicFramePr>
          <p:cNvPr id="24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1329069"/>
                <a:gridCol w="4273650"/>
                <a:gridCol w="5488953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Mechanism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Complete-case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analysis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MCAR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Unrelated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anything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patient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Unbiased,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less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precise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MAR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Related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things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recorded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Possibly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biased;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adjustment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imputation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help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MNAR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Related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missing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itself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Possibly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biased;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hard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fix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294132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mechanism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look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clues,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choose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approach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state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its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assumption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Clues in our data</a:t>
            </a:r>
            <a:endParaRPr lang="en-US" sz="3000" dirty="0"/>
          </a:p>
        </p:txBody>
      </p:sp>
      <p:graphicFrame>
        <p:nvGraphicFramePr>
          <p:cNvPr id="25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9086088" cy="914400"/>
        </p:xfrm>
        <a:graphic>
          <a:graphicData uri="http://schemas.openxmlformats.org/drawingml/2006/table">
            <a:tbl>
              <a:tblPr/>
              <a:tblGrid>
                <a:gridCol w="1246876"/>
                <a:gridCol w="1082489"/>
                <a:gridCol w="6756723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Missing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Clue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HbA1c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48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(7.5%)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Similar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across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diabetes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groups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clinics: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consistent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MCAR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38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(5.9%)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Missing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group: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diabetes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(29%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24%),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SBP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(138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141)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SBP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DBP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29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Includes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impossible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recoded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missing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42900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Could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people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poor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skip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questions?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would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MNAR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Building the analysis set</a:t>
            </a:r>
            <a:endParaRPr lang="en-US" sz="3000" dirty="0"/>
          </a:p>
        </p:txBody>
      </p:sp>
      <p:graphicFrame>
        <p:nvGraphicFramePr>
          <p:cNvPr id="26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764170" cy="914400"/>
        </p:xfrm>
        <a:graphic>
          <a:graphicData uri="http://schemas.openxmlformats.org/drawingml/2006/table">
            <a:tbl>
              <a:tblPr/>
              <a:tblGrid>
                <a:gridCol w="5014360"/>
                <a:gridCol w="1455782"/>
                <a:gridCol w="1294028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Remaining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Excluded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Unique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patients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after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cleaning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640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Outcome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available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(SBP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DBP)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591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Exposure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available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(adherence)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553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Covariates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available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522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331464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Complete-case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simple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transparent,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reasonable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start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costs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precision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biased.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Multiple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imputation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usual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next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step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needs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further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training.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Who did we lose?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02,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B.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40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303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Make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missingness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Look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clues: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HbA1c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diabetes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clinic;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missing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versus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present.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Build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flow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b="1" dirty="0">
                <a:solidFill>
                  <a:schemeClr val="tx1"/>
                </a:solidFill>
              </a:rPr>
              <a:t>Exercise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2B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1: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included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excluded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age,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diabetes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SBP.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one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limitation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sentence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missing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likely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consequence.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4849368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Done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when: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analysis_set.csv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flow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saved,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limitation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sentence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names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direction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consequence.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4: Univariate exploratory analysis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Match the summary to the variable</a:t>
            </a:r>
            <a:endParaRPr lang="en-US" sz="3000" dirty="0"/>
          </a:p>
        </p:txBody>
      </p:sp>
      <p:graphicFrame>
        <p:nvGraphicFramePr>
          <p:cNvPr id="29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764170" cy="914400"/>
        </p:xfrm>
        <a:graphic>
          <a:graphicData uri="http://schemas.openxmlformats.org/drawingml/2006/table">
            <a:tbl>
              <a:tblPr/>
              <a:tblGrid>
                <a:gridCol w="3816287"/>
                <a:gridCol w="1579153"/>
                <a:gridCol w="2368730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Summary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Graph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Continuous,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roughly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symmetric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(SD)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Histogram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Continuous,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skewed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Median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(IQR)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Histogram,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boxplot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Categorical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(%)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chart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294132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Always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give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the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denominator.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HbA1c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=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484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set,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522.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data look like</a:t>
            </a:r>
            <a:endParaRPr lang="en-US" sz="3000" dirty="0"/>
          </a:p>
        </p:txBody>
      </p:sp>
      <p:pic>
        <p:nvPicPr>
          <p:cNvPr id="3" name="picture-0" descr="Two histograms. Systolic BP is roughly symmetric around 141 mmHg. Adherence scores spread from about 10 to 100 with a centre near 65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890" y="1234440"/>
            <a:ext cx="9095171" cy="3456165"/>
          </a:xfrm>
          <a:prstGeom prst="rect">
            <a:avLst/>
          </a:prstGeom>
        </p:spPr>
      </p:pic>
      <p:sp>
        <p:nvSpPr>
          <p:cNvPr id="4" name="text-1"/>
          <p:cNvSpPr txBox="1"/>
          <p:nvPr/>
        </p:nvSpPr>
        <p:spPr>
          <a:xfrm>
            <a:off x="548640" y="4836909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SBP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clusters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around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140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mmHg: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small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measurement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differences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across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“</a:t>
            </a:r>
            <a:r>
              <a:rPr lang="en-US" sz="2200" dirty="0">
                <a:solidFill>
                  <a:schemeClr val="tx1"/>
                </a:solidFill>
              </a:rPr>
              <a:t>uncontrolled</a:t>
            </a:r>
            <a:r>
              <a:rPr lang="en-US" sz="2200" dirty="0">
                <a:solidFill>
                  <a:schemeClr val="tx1"/>
                </a:solidFill>
              </a:rPr>
              <a:t>”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threshold.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Describe, do not explain</a:t>
            </a:r>
            <a:endParaRPr lang="en-US" sz="3000" dirty="0"/>
          </a:p>
        </p:txBody>
      </p:sp>
      <p:graphicFrame>
        <p:nvGraphicFramePr>
          <p:cNvPr id="31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4436669"/>
                <a:gridCol w="6655003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Avoid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Prefer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Patients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were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poorly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adherent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because…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”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Mean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64.6%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(SD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17.4).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”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Most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patients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are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uncontrolled.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”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358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522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patients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(68.6%)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met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course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definition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uncontrolled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BP.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”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Activity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123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minutes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on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average.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”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Activity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skewed: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median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101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min/week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(IQR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61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169;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490).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”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342900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Univariate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describes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what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Explanations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comparisons,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adjustment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design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supports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Produce a univariate evidence pack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02,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C.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50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numeric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categorical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summaries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example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graphs.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b="1" dirty="0">
                <a:solidFill>
                  <a:schemeClr val="tx1"/>
                </a:solidFill>
              </a:rPr>
              <a:t>Exercise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2B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2: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two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figures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describing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BMI,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clinic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uncontrolled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BP.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figures.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five-sentence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interpretation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denominators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causal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language.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691128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AI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assist: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Copilot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suggest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suitable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graph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variable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type,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choice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against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previous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slide.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Day 2 exit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should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have: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clean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dataset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cleaning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analysis-set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flow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missing-data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limitation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univariate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two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figures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interpretation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least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two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AI-use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entries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432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Tomorrow: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groups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build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regression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models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2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missing,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back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reference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copy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xusHealth">
      <a:dk1>
        <a:srgbClr val="1D1D1F"/>
      </a:dk1>
      <a:lt1>
        <a:srgbClr val="FFFFFF"/>
      </a:lt1>
      <a:dk2>
        <a:srgbClr val="002366"/>
      </a:dk2>
      <a:lt2>
        <a:srgbClr val="DEE6EF"/>
      </a:lt2>
      <a:accent1>
        <a:srgbClr val="002366"/>
      </a:accent1>
      <a:accent2>
        <a:srgbClr val="A2B5CD"/>
      </a:accent2>
      <a:accent3>
        <a:srgbClr val="4A5D7E"/>
      </a:accent3>
      <a:accent4>
        <a:srgbClr val="B35C00"/>
      </a:accent4>
      <a:accent5>
        <a:srgbClr val="6B8BB8"/>
      </a:accent5>
      <a:accent6>
        <a:srgbClr val="2E7D5B"/>
      </a:accent6>
      <a:hlink>
        <a:srgbClr val="002366"/>
      </a:hlink>
      <a:folHlink>
        <a:srgbClr val="4A5D7E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NexusHealth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2: From raw export to analysis-ready data</dc:title>
  <dc:subject>PptxGenJS Presentation</dc:subject>
  <dc:creator>Adamu Onu</dc:creator>
  <cp:lastModifiedBy>Adamu Onu</cp:lastModifiedBy>
  <cp:revision>1</cp:revision>
  <dcterms:created xsi:type="dcterms:W3CDTF">2026-10-28T10:00:18Z</dcterms:created>
  <dcterms:modified xsi:type="dcterms:W3CDTF">2026-10-28T10:00:18Z</dcterms:modified>
</cp:coreProperties>
</file>