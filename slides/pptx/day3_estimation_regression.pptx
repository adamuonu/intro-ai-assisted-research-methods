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6ced0b2-12a1-7f4b-c285-58791e2e23ee}">
          <p14:sldIdLst>
            <p14:sldId id="256"/>
            <p14:sldId id="257"/>
          </p14:sldIdLst>
        </p14:section>
        <p14:section name="Estimation and choosing a method" id="{cf1b80a7-fb0b-df54-e78a-37220db4e0f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Bivariate analysis" id="{5c922211-5ced-121a-bfdc-68bf58b0a2a1}">
          <p14:sldIdLst>
            <p14:sldId id="264"/>
            <p14:sldId id="265"/>
            <p14:sldId id="266"/>
            <p14:sldId id="267"/>
            <p14:sldId id="268"/>
          </p14:sldIdLst>
        </p14:section>
        <p14:section name="Linear regression" id="{98e40922-a41f-dd56-0765-f1b9e3c2d640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Logistic regression" id="{e3e37d9c-2b01-859e-1ceb-d64e362530ab}">
          <p14:sldIdLst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TITLE">
    <p:bg>
      <p:bgPr>
        <a:solidFill>
          <a:srgbClr val="002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NexusHealth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SECTION">
    <p:bg>
      <p:bgPr>
        <a:solidFill>
          <a:srgbClr val="002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NexusHealth · Introduction to AI-Assisted Research Methods and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NexusHealth · Introduction to AI-Assisted Research Methods and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-title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Day 3: Estimation, comparison and regression</a:t>
            </a:r>
            <a:endParaRPr lang="en-US" sz="4000" dirty="0"/>
          </a:p>
        </p:txBody>
      </p:sp>
      <p:sp>
        <p:nvSpPr>
          <p:cNvPr id="3" name="deck-subtitle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Confidence intervals, bivariate tests, linear and logistic regression</a:t>
            </a:r>
            <a:endParaRPr lang="en-US" sz="2200" dirty="0"/>
          </a:p>
        </p:txBody>
      </p:sp>
      <p:sp>
        <p:nvSpPr>
          <p:cNvPr id="4" name="deck-byline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Introduction to AI-Assisted Research Methods and Data Analysis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Adamu Onu · NexusHealth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we are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bring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340096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(522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patients)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(which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confounders?)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hypotheses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6300216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Today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will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produce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6300216" y="1716024"/>
            <a:ext cx="534009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bivariate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comparison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size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95%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linear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diagnostic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ratio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predicted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probabilities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1: Estimation and choosing a method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Start with the estimand</a:t>
            </a:r>
            <a:endParaRPr lang="en-US" sz="3000" dirty="0"/>
          </a:p>
        </p:txBody>
      </p:sp>
      <p:sp>
        <p:nvSpPr>
          <p:cNvPr id="3" name="box-quote-0"/>
          <p:cNvSpPr/>
          <p:nvPr/>
        </p:nvSpPr>
        <p:spPr>
          <a:xfrm>
            <a:off x="548640" y="1234440"/>
            <a:ext cx="11091672" cy="1335024"/>
          </a:xfrm>
          <a:prstGeom prst="roundRect">
            <a:avLst>
              <a:gd name="adj" fmla="val 5479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4" name="text-1"/>
          <p:cNvSpPr txBox="1"/>
          <p:nvPr/>
        </p:nvSpPr>
        <p:spPr>
          <a:xfrm>
            <a:off x="713232" y="1399032"/>
            <a:ext cx="10762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Among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adults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in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primary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care,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how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much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does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mean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systolic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BP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differ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per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10-point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higher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adherence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score,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among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patients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of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the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same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age,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sex,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BMI,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diabetes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status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and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smoking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status?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71576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fixes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things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run: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3197352"/>
            <a:ext cx="11091672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population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(adults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primary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care)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contrast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points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adherence)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outcome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scale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(mean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mmHg)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adjustment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Confidence intervals and p-values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95%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confidence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interval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340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range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values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true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reasonably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compatible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868168"/>
            <a:ext cx="5340096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Width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shows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precision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Narrow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precise,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important.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6300216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p-value</a:t>
            </a:r>
            <a:endParaRPr lang="en-US" sz="2200" dirty="0"/>
          </a:p>
        </p:txBody>
      </p:sp>
      <p:sp>
        <p:nvSpPr>
          <p:cNvPr id="7" name="text-4"/>
          <p:cNvSpPr txBox="1"/>
          <p:nvPr/>
        </p:nvSpPr>
        <p:spPr>
          <a:xfrm>
            <a:off x="6300216" y="1716024"/>
            <a:ext cx="5340096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surprising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truly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effect.</a:t>
            </a:r>
            <a:endParaRPr lang="en-US" sz="2200" dirty="0"/>
          </a:p>
        </p:txBody>
      </p:sp>
      <p:sp>
        <p:nvSpPr>
          <p:cNvPr id="8" name="text-5"/>
          <p:cNvSpPr txBox="1"/>
          <p:nvPr/>
        </p:nvSpPr>
        <p:spPr>
          <a:xfrm>
            <a:off x="6300216" y="2532888"/>
            <a:ext cx="5340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probability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true,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says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nothing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about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size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effect.</a:t>
            </a:r>
            <a:endParaRPr lang="en-US" sz="2200" dirty="0"/>
          </a:p>
        </p:txBody>
      </p:sp>
      <p:sp>
        <p:nvSpPr>
          <p:cNvPr id="9" name="box-light-6"/>
          <p:cNvSpPr/>
          <p:nvPr/>
        </p:nvSpPr>
        <p:spPr>
          <a:xfrm>
            <a:off x="548640" y="3685032"/>
            <a:ext cx="11091672" cy="999744"/>
          </a:xfrm>
          <a:prstGeom prst="roundRect">
            <a:avLst>
              <a:gd name="adj" fmla="val 7317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10" name="text-7"/>
          <p:cNvSpPr txBox="1"/>
          <p:nvPr/>
        </p:nvSpPr>
        <p:spPr>
          <a:xfrm>
            <a:off x="713232" y="3849624"/>
            <a:ext cx="10762488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Always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effect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size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with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its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95%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CI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p-value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like.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judge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clinical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importance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yourself.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Example: mean SBP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141.3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mmHg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(95%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140.4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142.1;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=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522)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051304"/>
            <a:ext cx="11091672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Estimate: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141.3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Standard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error: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/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√n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10.0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/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√522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≈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0.44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95%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±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about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standard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errors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35584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smaller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standard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error,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narrower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interval.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Choosing a method</a:t>
            </a:r>
            <a:endParaRPr lang="en-US" sz="3000" dirty="0"/>
          </a:p>
        </p:txBody>
      </p:sp>
      <p:graphicFrame>
        <p:nvGraphicFramePr>
          <p:cNvPr id="8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0620248" cy="914400"/>
        </p:xfrm>
        <a:graphic>
          <a:graphicData uri="http://schemas.openxmlformats.org/drawingml/2006/table">
            <a:tbl>
              <a:tblPr/>
              <a:tblGrid>
                <a:gridCol w="1361034"/>
                <a:gridCol w="1361034"/>
                <a:gridCol w="2783913"/>
                <a:gridCol w="2895043"/>
                <a:gridCol w="2219225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Outcome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Exposure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Bivariate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Continuous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Two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groups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Welch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t-test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Difference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Linear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regression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Continuous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Continuous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Correlation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Pearson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Spearman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ρ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Linear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regression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Categories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Chi-square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Difference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proportions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Logistic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regression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Continuous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(go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straight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model)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Odds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ratio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Logistic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regression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Choose the method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03,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Individually,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compare,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name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outcome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type,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type,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bivariate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method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measure: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532888"/>
            <a:ext cx="11091672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BMI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between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current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never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smokers?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proportion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uncontrolled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between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clinics?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associated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uncontrolled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after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allowing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diabetes?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4172712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H0,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own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2: Bivariate analysis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Comparing two means: Welch t-test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chemeClr val="tx1"/>
                </a:solidFill>
              </a:rPr>
              <a:t>Describe: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group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sizes,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SDs.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Picture: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boxplot.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b="1" dirty="0">
                <a:solidFill>
                  <a:schemeClr val="tx1"/>
                </a:solidFill>
              </a:rPr>
              <a:t>Estimate: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95%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b="1" dirty="0">
                <a:solidFill>
                  <a:schemeClr val="tx1"/>
                </a:solidFill>
              </a:rPr>
              <a:t>Test: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Welch’s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t-test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assume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equal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variances).</a:t>
            </a:r>
            <a:endParaRPr lang="en-US" sz="2200" dirty="0"/>
          </a:p>
        </p:txBody>
      </p:sp>
      <p:graphicFrame>
        <p:nvGraphicFramePr>
          <p:cNvPr id="11" name="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50464"/>
          <a:ext cx="7764170" cy="914400"/>
        </p:xfrm>
        <a:graphic>
          <a:graphicData uri="http://schemas.openxmlformats.org/drawingml/2006/table">
            <a:tbl>
              <a:tblPr/>
              <a:tblGrid>
                <a:gridCol w="2141840"/>
                <a:gridCol w="2141840"/>
                <a:gridCol w="3480490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Diabetes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Mean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SBP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(SD)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393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140.4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(10.1)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143.7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(9.4)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5" name="text-2"/>
          <p:cNvSpPr txBox="1"/>
          <p:nvPr/>
        </p:nvSpPr>
        <p:spPr>
          <a:xfrm>
            <a:off x="548640" y="426720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Difference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3.3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mmHg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(95%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1.4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5.2),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&lt;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0.001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statistically;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clinically;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unadjusted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Comparing proportions: chi-square</a:t>
            </a:r>
            <a:endParaRPr lang="en-US" sz="3000" dirty="0"/>
          </a:p>
        </p:txBody>
      </p:sp>
      <p:graphicFrame>
        <p:nvGraphicFramePr>
          <p:cNvPr id="12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764170" cy="914400"/>
        </p:xfrm>
        <a:graphic>
          <a:graphicData uri="http://schemas.openxmlformats.org/drawingml/2006/table">
            <a:tbl>
              <a:tblPr/>
              <a:tblGrid>
                <a:gridCol w="1411667"/>
                <a:gridCol w="1764584"/>
                <a:gridCol w="2117501"/>
                <a:gridCol w="2470418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Smoking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Controlled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Uncontrolled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%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uncontrolled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Never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189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70.3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Former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104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64.6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Current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70.7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94132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χ²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1.72,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=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0.42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Smallest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expected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count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28.9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above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5,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reliable).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75818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large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p-value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evidence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difference.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compatible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range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differences,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including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Correlation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874106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Pearson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=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-0.13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0.003)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051304"/>
            <a:ext cx="5874106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Weak: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explains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under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variation.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Still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potentially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important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population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level.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first.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describes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straight-line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relationships.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Correlation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confounders.</a:t>
            </a:r>
            <a:endParaRPr lang="en-US" sz="2200" dirty="0"/>
          </a:p>
        </p:txBody>
      </p:sp>
      <p:graphicFrame>
        <p:nvGraphicFramePr>
          <p:cNvPr id="13" name="table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34226" y="1234440"/>
          <a:ext cx="3364992" cy="914400"/>
        </p:xfrm>
        <a:graphic>
          <a:graphicData uri="http://schemas.openxmlformats.org/drawingml/2006/table">
            <a:tbl>
              <a:tblPr/>
              <a:tblGrid>
                <a:gridCol w="1246293"/>
                <a:gridCol w="2118699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Rough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Negligible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Weak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Moderate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above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Strong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Defend a bivariate analysis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03,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60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chemeClr val="tx1"/>
                </a:solidFill>
              </a:rPr>
              <a:t>Exercise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3A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Summaries,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boxplot,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Welch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test,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95%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Exercise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3A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uncontrolled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Cross-table,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chi-square,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proportions.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Interpret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plus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limitation.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69112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assist: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Copilot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explain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output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confirm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which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group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was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subtracted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from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which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Getting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direction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wrong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common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error.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3: Linear regression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linear regression estimates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SBP = intercept + b1 × adherence_10 + b2 × age + ... + error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b1</a:t>
            </a:r>
            <a:r>
              <a:rPr lang="en-US" sz="2200" dirty="0">
                <a:solidFill>
                  <a:schemeClr val="tx1"/>
                </a:solidFill>
              </a:rPr>
              <a:t>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10-point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higher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among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people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with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same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values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of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other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variables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Categories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reference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level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(Female;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Never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smoker;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diabetes).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Adjust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for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confounders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mediators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colliders.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Crude and adjusted</a:t>
            </a:r>
            <a:endParaRPr lang="en-US" sz="3000" dirty="0"/>
          </a:p>
        </p:txBody>
      </p:sp>
      <p:graphicFrame>
        <p:nvGraphicFramePr>
          <p:cNvPr id="17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764170" cy="914400"/>
        </p:xfrm>
        <a:graphic>
          <a:graphicData uri="http://schemas.openxmlformats.org/drawingml/2006/table">
            <a:tbl>
              <a:tblPr/>
              <a:tblGrid>
                <a:gridCol w="1132718"/>
                <a:gridCol w="3867652"/>
                <a:gridCol w="1752351"/>
                <a:gridCol w="1011449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Adherence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(per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points),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mmHg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95%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CI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Crude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-0.76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-1.25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-0.27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0.003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Adjusted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-1.01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-1.49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-0.53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0.001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551176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age,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sex,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BMI,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smoking;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522.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03276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grew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after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adjustment.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Something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masking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association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(negative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confounding).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Adjustment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either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direction.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Reading the other coefficients</a:t>
            </a:r>
            <a:endParaRPr lang="en-US" sz="3000" dirty="0"/>
          </a:p>
        </p:txBody>
      </p:sp>
      <p:graphicFrame>
        <p:nvGraphicFramePr>
          <p:cNvPr id="18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9422384" cy="914400"/>
        </p:xfrm>
        <a:graphic>
          <a:graphicData uri="http://schemas.openxmlformats.org/drawingml/2006/table">
            <a:tbl>
              <a:tblPr/>
              <a:tblGrid>
                <a:gridCol w="1789060"/>
                <a:gridCol w="1789060"/>
                <a:gridCol w="1550519"/>
                <a:gridCol w="4293745"/>
              </a:tblGrid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Term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Estimate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(mmHg)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95%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CI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Reads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(per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year)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0.17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older: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0.17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mmHg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(per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kg/m²)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0.28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0.45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BMI: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0.28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mmHg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Current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smoker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2.77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0.49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5.04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Compared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never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smokers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-1.16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2.16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Compared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females;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includes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57530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Report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only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what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answers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question.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covariates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interpreted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Check the assumptions</a:t>
            </a:r>
            <a:endParaRPr lang="en-US" sz="3000" dirty="0"/>
          </a:p>
        </p:txBody>
      </p:sp>
      <p:pic>
        <p:nvPicPr>
          <p:cNvPr id="3" name="picture-0" descr="Left: residuals scatter evenly around zero across fitted values with no funnel shape. Right: Q-Q plot points lie close to the reference li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724" y="1234440"/>
            <a:ext cx="8651504" cy="3460602"/>
          </a:xfrm>
          <a:prstGeom prst="rect">
            <a:avLst/>
          </a:prstGeom>
        </p:spPr>
      </p:pic>
      <p:sp>
        <p:nvSpPr>
          <p:cNvPr id="4" name="text-1"/>
          <p:cNvSpPr txBox="1"/>
          <p:nvPr/>
        </p:nvSpPr>
        <p:spPr>
          <a:xfrm>
            <a:off x="548640" y="4841346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funnel,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curve,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Q-Q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close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looks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reasonable.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R²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≈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0.11,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unexplained,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which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common.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Fit, check and interpret a linear model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03,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60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Fit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crude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coefficient.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Exercise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3B: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crude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Make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diagnostic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plots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two-sentence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diagnostic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Interpret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colleague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76732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two-model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comparison,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diagnostic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4: Logistic regression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Probability, odds and odds ratios</a:t>
            </a:r>
            <a:endParaRPr lang="en-US" sz="3000" dirty="0"/>
          </a:p>
        </p:txBody>
      </p:sp>
      <p:graphicFrame>
        <p:nvGraphicFramePr>
          <p:cNvPr id="22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224520" cy="914400"/>
        </p:xfrm>
        <a:graphic>
          <a:graphicData uri="http://schemas.openxmlformats.org/drawingml/2006/table">
            <a:tbl>
              <a:tblPr/>
              <a:tblGrid>
                <a:gridCol w="2114877"/>
                <a:gridCol w="4112260"/>
                <a:gridCol w="1997383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Scale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Probability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(risk)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Share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0.69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Odds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0.69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0.31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Odds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ratio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(OR)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Odds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group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÷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odds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another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94132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Logistic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regression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log-odds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Exponentiate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coefficient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758184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association.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&lt;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&gt;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higher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Odds are not risks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common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outcome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(69%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here),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exaggerates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change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risk.</a:t>
            </a:r>
            <a:endParaRPr lang="en-US" sz="2200" dirty="0"/>
          </a:p>
        </p:txBody>
      </p:sp>
      <p:graphicFrame>
        <p:nvGraphicFramePr>
          <p:cNvPr id="23" name="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6024"/>
          <a:ext cx="7764170" cy="914400"/>
        </p:xfrm>
        <a:graphic>
          <a:graphicData uri="http://schemas.openxmlformats.org/drawingml/2006/table">
            <a:tbl>
              <a:tblPr/>
              <a:tblGrid>
                <a:gridCol w="1848612"/>
                <a:gridCol w="5915558"/>
              </a:tblGrid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Adherence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score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Average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predicted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probability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of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uncontrolled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78%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71%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62%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"/>
          <p:cNvSpPr txBox="1"/>
          <p:nvPr/>
        </p:nvSpPr>
        <p:spPr>
          <a:xfrm>
            <a:off x="548640" y="366674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points: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0.81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(95%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0.72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0.91)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19%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correct.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19%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lower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risk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wrong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448360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predicted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probabilities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talk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about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risk.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Write a defensible logistic interpretation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03,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60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Fit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crude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logistic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Exercise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3C: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ratios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95%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CIs;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average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predicted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probability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40,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60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80.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sentences: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predicted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probabilities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add.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Save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results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4.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10260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assist: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assistant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critique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odds/risk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confusion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causal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language.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Accept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changes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justify.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Day 3 exit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have: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choice,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H0/H1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bivariate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comparison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size,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95%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limitation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crude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linear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diagnostic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predicted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probabilities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three-sentence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interpretation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outputs/tables/model_results.csv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17880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Tomorrow: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turn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reproducible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calibrated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xusHealth">
      <a:dk1>
        <a:srgbClr val="1D1D1F"/>
      </a:dk1>
      <a:lt1>
        <a:srgbClr val="FFFFFF"/>
      </a:lt1>
      <a:dk2>
        <a:srgbClr val="002366"/>
      </a:dk2>
      <a:lt2>
        <a:srgbClr val="DEE6EF"/>
      </a:lt2>
      <a:accent1>
        <a:srgbClr val="002366"/>
      </a:accent1>
      <a:accent2>
        <a:srgbClr val="A2B5CD"/>
      </a:accent2>
      <a:accent3>
        <a:srgbClr val="4A5D7E"/>
      </a:accent3>
      <a:accent4>
        <a:srgbClr val="B35C00"/>
      </a:accent4>
      <a:accent5>
        <a:srgbClr val="6B8BB8"/>
      </a:accent5>
      <a:accent6>
        <a:srgbClr val="2E7D5B"/>
      </a:accent6>
      <a:hlink>
        <a:srgbClr val="002366"/>
      </a:hlink>
      <a:folHlink>
        <a:srgbClr val="4A5D7E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NexusHealth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3: Estimation, comparison and regression</dc:title>
  <dc:subject>PptxGenJS Presentation</dc:subject>
  <dc:creator>Adamu Onu</dc:creator>
  <cp:lastModifiedBy>Adamu Onu</cp:lastModifiedBy>
  <cp:revision>1</cp:revision>
  <dcterms:created xsi:type="dcterms:W3CDTF">2026-10-28T10:00:18Z</dcterms:created>
  <dcterms:modified xsi:type="dcterms:W3CDTF">2026-10-28T10:00:18Z</dcterms:modified>
</cp:coreProperties>
</file>